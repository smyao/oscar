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baaceb42bd411b" /><Relationship Type="http://schemas.openxmlformats.org/officeDocument/2006/relationships/extended-properties" Target="/docProps/app.xml" Id="R01e4c4f0c982431d" /><Relationship Type="http://schemas.openxmlformats.org/officeDocument/2006/relationships/officeDocument" Target="/ppt/presentation.xml" Id="Rde72ee16613a48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d9c843a1934f30"/>
  </p:sldMasterIdLst>
  <p:notesMasterIdLst>
    <p:notesMasterId xmlns:r="http://schemas.openxmlformats.org/officeDocument/2006/relationships" r:id="Rc70fd02798dd4197"/>
  </p:notesMasterIdLst>
  <p:sldIdLst>
    <p:sldId xmlns:r="http://schemas.openxmlformats.org/officeDocument/2006/relationships" id="256" r:id="R39acba8894f64755"/>
    <p:sldId xmlns:r="http://schemas.openxmlformats.org/officeDocument/2006/relationships" id="257" r:id="R0f28ea57256d49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25c1491abd4bb6" /><Relationship Type="http://schemas.openxmlformats.org/officeDocument/2006/relationships/slideMaster" Target="/ppt/slideMasters/slideMaster1.xml" Id="Rbcd9c843a1934f30" /><Relationship Type="http://schemas.openxmlformats.org/officeDocument/2006/relationships/notesMaster" Target="/ppt/notesMasters/notesMaster1.xml" Id="Rc70fd02798dd4197" /><Relationship Type="http://schemas.openxmlformats.org/officeDocument/2006/relationships/presProps" Target="/ppt/presProps.xml" Id="R483a535e79a34468" /><Relationship Type="http://schemas.openxmlformats.org/officeDocument/2006/relationships/tableStyles" Target="/ppt/tableStyles.xml" Id="R0ce19f7c3dd04148" /><Relationship Type="http://schemas.openxmlformats.org/officeDocument/2006/relationships/slide" Target="/ppt/slides/slide1.xml" Id="R39acba8894f64755" /><Relationship Type="http://schemas.openxmlformats.org/officeDocument/2006/relationships/slide" Target="/ppt/slides/slide2.xml" Id="R0f28ea57256d49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5e306246ab45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f7df6082784782" /><Relationship Type="http://schemas.openxmlformats.org/officeDocument/2006/relationships/notesMaster" Target="/ppt/notesMasters/notesMaster1.xml" Id="R098476dc3fba4d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66ad822fa74a10" /><Relationship Type="http://schemas.openxmlformats.org/officeDocument/2006/relationships/notesMaster" Target="/ppt/notesMasters/notesMaster1.xml" Id="Rce026fc934634c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本页为拟议方案。第一个优势是兼容 INT2 与混合注意力的完整前缀续接，必须同时有同位置完整 SSM、原精度末窗以及 HBM 中可用的 Sink 和 INT2 历史。第二个优势是按需取回中间的原精度 KV 窗口，使所选窗口避免再次承受 INT2 表示误差；整模任务质量和性能尚未验证。原精度在本示例为 BF16，不是将全模型改为 FP32。</a:t>
            </a:r>
          </a:p>
          <a:p xmlns:a="http://schemas.openxmlformats.org/drawingml/2006/main">
            <a:r>
              <a:t>示例 n=2K，W=512 token，每格256 token。在合法的已提交位置2K、4K、6K、8K，每个位置保存完整SSM和同位置末尾W个token的原精度窗口。原精度窗口必须在滑出当前Recent并被覆盖前截取。第一轮到6K时已留存[5.5K,6K)原精度窗口，到8K时已留存[7.5K,8K)末窗和完整SSM8K。此时前8K全量INT2历史与原精度Sink保留在HBM，各检查点的Recent原精度窗口和完整SSM保存于HBF，活动计算的窗口与状态工作副本仍在HBM。示意各点都可导出完整状态。若实际引擎只允许某些边界导出，n目标须服从这些边界，轮次提前结束须在合法提交点封口。SSM、对应末窗与HBM中的KV依赖全部齐备后才发布可恢复点。</a:t>
            </a:r>
          </a:p>
          <a:p xmlns:a="http://schemas.openxmlformats.org/drawingml/2006/main">
            <a:r>
              <a:t>第一条32格为1格Sink、29格INT2、2格Recent，表示已处理8K。第二条48格表示已处理完新增4K达到12K：第1格Sink，22与23号零起点格为选中的原精度历史窗口[5.5K,6K)，末2格为当前Recent[11.5K,12K)，其余读取INT2。原精度历史窗口和当前Recent是不同角色；同一token区间只采用一种表示，原精度窗口替代而非叠加该区间INT2读取，避免Attention重复计数。</a:t>
            </a:r>
          </a:p>
          <a:p xmlns:a="http://schemas.openxmlformats.org/drawingml/2006/main">
            <a:r>
              <a:t>第二轮从SSM8K及8K末窗续接。6K原精度窗口只补充后续Attention读取，不恢复SSM6K，不修改已经形成的SSM8K，也不能逆转此前计算已产生的误差。原精度历史窗口从HBF读回HBM后可在后续多步中复用，不逐query从HBF向AICore供数。旧8K末窗在新增内容刚开始时短时沿用，Recent随已经计算的位置前移；不能在新增4K尚未计算时提前把Recent放到12K尾端。SSM随新增内容计算持续更新至12K。</a:t>
            </a:r>
          </a:p>
          <a:p xmlns:a="http://schemas.openxmlformats.org/drawingml/2006/main">
            <a:r>
              <a:t>多个按n保存的成组检查点用于不同位置的前缀命中；如果部署场景只允许连续追加，可将SSM保留简化为每会话最新点。示例不以任意选择历史原精度窗口保证整模质量提高，选窗策略和效果需验证。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BM常驻已接纳前缀的原精度Sink和共享INT2历史，运行时持有当前Recent、SSM工作槽及少量选中的历史原精度窗口。SSM工作槽包含运行、迁移与短等待状态，活动时实时更新。历史SSM检查点及历史原精度KV窗口主要保存在HBF，活动计算所需工作副本在HBM。HBF不备份Sink或INT2。本页没有AICore直连HBF的路径，不要求HBF逐query供数。</a:t>
            </a:r>
          </a:p>
          <a:p xmlns:a="http://schemas.openxmlformats.org/drawingml/2006/main">
            <a:r>
              <a:t>SSM和原精度窗口均按n在同一合法提交位置保存。示例n=2K，每点一组完整SSM与W=512 token的原精度末窗。必须先在原精度窗口被覆盖前截取稳定副本，并把SSM、尾窗及HBM KV依赖绑定到同一前缀、位置和版本；依赖全部可用后才发布可恢复点。物理传输可以按设备要求批量组织，但不改变每n保存一组的逻辑。轮次提前结束在合法提交边界封口，避免末段没有可恢复状态。</a:t>
            </a:r>
          </a:p>
          <a:p xmlns:a="http://schemas.openxmlformats.org/drawingml/2006/main">
            <a:r>
              <a:t>恢复8K前缀时，从HBF读取SSM8K及其对应8K末窗到HBM，若这些副本仍在HBM可直接使用。另外按预算选取6K原精度历史窗口[5.5K,6K)读回HBM，供后续Attention以原精度替代同区间INT2读取。不会因为选择6K窗口而回退SSM到6K。不同精度表示按token范围排他路由，不重复计入同一段历史。选择的窗口在HBM复用多步，预算上限由系统设置，淘汰时可恢复对同区间INT2的读取。</a:t>
            </a:r>
          </a:p>
          <a:p xmlns:a="http://schemas.openxmlformats.org/drawingml/2006/main">
            <a:r>
              <a:t>多个成组检查点用于部分前缀命中或不同位置续接；只连续追加的部署可以简化为保留每会话最新状态。SSM和末窗的兼容性、HBM KV依赖及精度路径须符合恢复合同。新增原精度历史窗口可减少所选KV的直接INT2表示损失，不能逆转过去计算形成的误差，也未证明整模质量、吞吐或时延改善。</a:t>
            </a:r>
          </a:p>
          <a:p xmlns:a="http://schemas.openxmlformats.org/drawingml/2006/main">
            <a:r>
              <a:t>公开技术边界：Open Compute Project, OCP HBF Architecture Specification v0.7.0, 2026-08-03，§9、§11、§13.3。原始来源：https://www.opencompute.org/documents/ocp-hbf-architecture-specification-v0-7-0-final-pdf/ 。HBF用于KV缓存与一般分层内存已公开，不能将采用HBF本身作为独立创新。SanDisk背景来源：https://www.sandisk.com/en-gb/company/newsroom/blogs/2025/scaling-beyond-the-wall-inside-sandisks-high-bandwidth-flash-for-ai 。厂商权重读取仿真不能作为本方案硬件验证。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bedd2791fe4da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7c0f2afaf546b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65b7be713b44c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2de8bfae51442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aff5654398481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b88d2cba394f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29EFFE-3384-48A5-99E3-4F9BADF99D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A2783A1-ABD7-43B1-B61E-8CE2F11B2D2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7BD3E33-EF32-433C-A828-C21E451B3E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69CC2B-9F0F-4CD9-8DCF-16E3D875B3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D49D2EE-E15D-48C3-B7F5-F5BB9FDEEE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DF39905-B2DF-422E-9494-3BC2B2AD49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55D892D-A1D2-4D3E-A00C-79489858E8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AD23DE1-51CC-44C3-85F1-B77EA8DBF00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1DF39F-D65D-4B44-9E47-C5004BB57C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BBA7EAE-6E5A-4031-91FF-2B1A8DD11D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5947780a7948bc" /><Relationship Type="http://schemas.openxmlformats.org/officeDocument/2006/relationships/slideLayout" Target="/ppt/slideLayouts/slideLayout1.xml" Id="R1e792f81856f4828" /><Relationship Type="http://schemas.openxmlformats.org/officeDocument/2006/relationships/slideLayout" Target="/ppt/slideLayouts/slideLayout2.xml" Id="R045c138d806a460a" /><Relationship Type="http://schemas.openxmlformats.org/officeDocument/2006/relationships/slideLayout" Target="/ppt/slideLayouts/slideLayout3.xml" Id="R78df0e123d5f4acf" /><Relationship Type="http://schemas.openxmlformats.org/officeDocument/2006/relationships/slideLayout" Target="/ppt/slideLayouts/slideLayout4.xml" Id="Ra8b1093106fe4197" /><Relationship Type="http://schemas.openxmlformats.org/officeDocument/2006/relationships/slideLayout" Target="/ppt/slideLayouts/slideLayout5.xml" Id="R3b6347df8bb24241" /><Relationship Type="http://schemas.openxmlformats.org/officeDocument/2006/relationships/slideLayout" Target="/ppt/slideLayouts/slideLayout6.xml" Id="R38f0ee6c3bf440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792f81856f4828"/>
    <p:sldLayoutId xmlns:r="http://schemas.openxmlformats.org/officeDocument/2006/relationships" id="2147483650" r:id="R045c138d806a460a"/>
    <p:sldLayoutId xmlns:r="http://schemas.openxmlformats.org/officeDocument/2006/relationships" id="2147483651" r:id="R78df0e123d5f4acf"/>
    <p:sldLayoutId xmlns:r="http://schemas.openxmlformats.org/officeDocument/2006/relationships" id="2147483652" r:id="Ra8b1093106fe4197"/>
    <p:sldLayoutId xmlns:r="http://schemas.openxmlformats.org/officeDocument/2006/relationships" id="2147483653" r:id="R3b6347df8bb24241"/>
    <p:sldLayoutId xmlns:r="http://schemas.openxmlformats.org/officeDocument/2006/relationships" id="2147483654" r:id="R38f0ee6c3bf440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2cc15ff8e94854" /><Relationship Type="http://schemas.openxmlformats.org/officeDocument/2006/relationships/notesSlide" Target="/ppt/notesSlides/notesSlide1.xml" Id="Rb79fc95b9a2e49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ea5aabd4584057" /><Relationship Type="http://schemas.openxmlformats.org/officeDocument/2006/relationships/notesSlide" Target="/ppt/notesSlides/notesSlide2.xml" Id="R5a4ee972655945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CD72CEE-1B70-4C23-9411-909E1448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buNone/>
              <a:defRPr sz="30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buNone/>
              <a:defRPr sz="30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buNone/>
              <a:defRPr sz="30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buNone/>
              <a:defRPr sz="30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buNone/>
              <a:defRPr sz="30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buNone/>
              <a:defRPr sz="30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buNone/>
              <a:defRPr sz="30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buNone/>
              <a:defRPr sz="30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buNone/>
              <a:defRPr sz="30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rPr>
              <a:t>本发明技术方案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DCF243-3BE3-4467-AA19-DD8DE2B0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71475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buNone/>
              <a:defRPr sz="127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buNone/>
              <a:defRPr sz="127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buNone/>
              <a:defRPr sz="127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buNone/>
              <a:defRPr sz="127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buNone/>
              <a:defRPr sz="127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buNone/>
              <a:defRPr sz="127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buNone/>
              <a:defRPr sz="127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buNone/>
              <a:defRPr sz="127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buNone/>
              <a:defRPr sz="127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rPr>
              <a:t>1 /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E5FD7-746F-42A8-B021-735D9515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163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buNone/>
              <a:defRPr sz="157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buNone/>
              <a:defRPr sz="157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buNone/>
              <a:defRPr sz="157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buNone/>
              <a:defRPr sz="157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buNone/>
              <a:defRPr sz="157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buNone/>
              <a:defRPr sz="157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buNone/>
              <a:defRPr sz="157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buNone/>
              <a:defRPr sz="157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buNone/>
              <a:defRPr sz="157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rPr>
              <a:t>本发明提出一种基于 HBF 的混合注意力极低比特缓存管理架构，形态为 HBM/HBF 分层缓存模块，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rPr>
              <a:t>适用于 Agent 多轮对话与前缀复用。以已处理 8K 历史续接新增 4K、达到 12K 为例：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EA7F7-BB0B-43FF-81F8-61877F14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7621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C4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98C6D-15C0-4E23-9ABA-840A2E61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240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rPr>
              <a:t>Sink 原精度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465BDA-6F30-4153-9E72-5A9A911B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7621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26C95-E5A8-4757-B98E-138EFF8E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7240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rPr>
              <a:t>INT2 历史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E3D371-2717-4896-B69F-B05D54DD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621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4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2A783B-B4AD-4DF9-8DBD-C86E805B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240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rPr>
              <a:t>原精度历史窗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C43E9B-0921-4390-BAC5-0C0DD2AB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621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F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34D5EB-4D5E-4749-80DF-AD8CCB39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240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rPr>
              <a:t>Recent 原精度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78B766-4FA8-44E3-ABAC-C719789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6217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buNone/>
              <a:defRPr sz="18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buNone/>
              <a:defRPr sz="18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buNone/>
              <a:defRPr sz="18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buNone/>
              <a:defRPr sz="18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buNone/>
              <a:defRPr sz="18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buNone/>
              <a:defRPr sz="18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buNone/>
              <a:defRPr sz="18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buNone/>
              <a:defRPr sz="18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buNone/>
              <a:defRPr sz="18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rPr>
              <a:t>第一轮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4AC5C9-F9A6-4205-AADF-EAE43E71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66975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buNone/>
              <a:defRPr sz="157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buNone/>
              <a:defRPr sz="157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buNone/>
              <a:defRPr sz="157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buNone/>
              <a:defRPr sz="157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buNone/>
              <a:defRPr sz="157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buNone/>
              <a:defRPr sz="157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buNone/>
              <a:defRPr sz="157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buNone/>
              <a:defRPr sz="157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buNone/>
              <a:defRPr sz="157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rPr>
              <a:t>已处理 8K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8B708A-C45D-44E8-B03B-EC9579BB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9812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62948D-EFE2-425A-9E4C-4A6C2171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8120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buNone/>
              <a:defRPr sz="13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buNone/>
              <a:defRPr sz="13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buNone/>
              <a:defRPr sz="13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buNone/>
              <a:defRPr sz="13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buNone/>
              <a:defRPr sz="13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buNone/>
              <a:defRPr sz="13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buNone/>
              <a:defRPr sz="13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buNone/>
              <a:defRPr sz="13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buNone/>
              <a:defRPr sz="13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rPr>
              <a:t>8K</a:t>
            </a:r>
          </a:p>
        </p:txBody>
      </p:sp>
      <p:sp>
        <p:nvSpPr>
          <p:cNvPr id="16" name="token-cell-32-0">
            <a:extLst xmlns:a="http://schemas.openxmlformats.org/drawingml/2006/main">
              <a:ext uri="{FF2B5EF4-FFF2-40B4-BE49-F238E27FC236}">
                <a16:creationId xmlns:a16="http://schemas.microsoft.com/office/drawing/2014/main" id="{17588E7B-9EB0-4E73-BB2E-01558A31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26695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C48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token-cell-32-1">
            <a:extLst xmlns:a="http://schemas.openxmlformats.org/drawingml/2006/main">
              <a:ext uri="{FF2B5EF4-FFF2-40B4-BE49-F238E27FC236}">
                <a16:creationId xmlns:a16="http://schemas.microsoft.com/office/drawing/2014/main" id="{FADBF10E-06E4-489E-98BF-45FA622F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26695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token-cell-32-2">
            <a:extLst xmlns:a="http://schemas.openxmlformats.org/drawingml/2006/main">
              <a:ext uri="{FF2B5EF4-FFF2-40B4-BE49-F238E27FC236}">
                <a16:creationId xmlns:a16="http://schemas.microsoft.com/office/drawing/2014/main" id="{51D2DCAE-4603-4BE9-BAF8-70ECCB86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26695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token-cell-32-3">
            <a:extLst xmlns:a="http://schemas.openxmlformats.org/drawingml/2006/main">
              <a:ext uri="{FF2B5EF4-FFF2-40B4-BE49-F238E27FC236}">
                <a16:creationId xmlns:a16="http://schemas.microsoft.com/office/drawing/2014/main" id="{0D7F4BE5-A13E-44A1-84FB-3C37662C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6695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token-cell-32-4">
            <a:extLst xmlns:a="http://schemas.openxmlformats.org/drawingml/2006/main">
              <a:ext uri="{FF2B5EF4-FFF2-40B4-BE49-F238E27FC236}">
                <a16:creationId xmlns:a16="http://schemas.microsoft.com/office/drawing/2014/main" id="{E826D82D-3369-41D0-94F4-64EB8F81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6695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token-cell-32-5">
            <a:extLst xmlns:a="http://schemas.openxmlformats.org/drawingml/2006/main">
              <a:ext uri="{FF2B5EF4-FFF2-40B4-BE49-F238E27FC236}">
                <a16:creationId xmlns:a16="http://schemas.microsoft.com/office/drawing/2014/main" id="{CB972984-A231-46DC-88E7-9A5FADF2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6695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token-cell-32-6">
            <a:extLst xmlns:a="http://schemas.openxmlformats.org/drawingml/2006/main">
              <a:ext uri="{FF2B5EF4-FFF2-40B4-BE49-F238E27FC236}">
                <a16:creationId xmlns:a16="http://schemas.microsoft.com/office/drawing/2014/main" id="{9319D18D-0472-49AC-9E28-47C04CF8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6695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token-cell-32-7">
            <a:extLst xmlns:a="http://schemas.openxmlformats.org/drawingml/2006/main">
              <a:ext uri="{FF2B5EF4-FFF2-40B4-BE49-F238E27FC236}">
                <a16:creationId xmlns:a16="http://schemas.microsoft.com/office/drawing/2014/main" id="{2FE780F3-B1A9-4A32-B0CB-926FA132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6695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token-cell-32-8">
            <a:extLst xmlns:a="http://schemas.openxmlformats.org/drawingml/2006/main">
              <a:ext uri="{FF2B5EF4-FFF2-40B4-BE49-F238E27FC236}">
                <a16:creationId xmlns:a16="http://schemas.microsoft.com/office/drawing/2014/main" id="{EF0FE699-4E63-4BCA-AA46-B571FE5A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6695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token-cell-32-9">
            <a:extLst xmlns:a="http://schemas.openxmlformats.org/drawingml/2006/main">
              <a:ext uri="{FF2B5EF4-FFF2-40B4-BE49-F238E27FC236}">
                <a16:creationId xmlns:a16="http://schemas.microsoft.com/office/drawing/2014/main" id="{81C07A3C-47B0-4E0B-90D1-20C1C5DC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6695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token-cell-32-10">
            <a:extLst xmlns:a="http://schemas.openxmlformats.org/drawingml/2006/main">
              <a:ext uri="{FF2B5EF4-FFF2-40B4-BE49-F238E27FC236}">
                <a16:creationId xmlns:a16="http://schemas.microsoft.com/office/drawing/2014/main" id="{393CE42D-404F-42C5-A374-A0F71C08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6695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token-cell-32-11">
            <a:extLst xmlns:a="http://schemas.openxmlformats.org/drawingml/2006/main">
              <a:ext uri="{FF2B5EF4-FFF2-40B4-BE49-F238E27FC236}">
                <a16:creationId xmlns:a16="http://schemas.microsoft.com/office/drawing/2014/main" id="{5E6B2F54-F848-4340-A77B-96B3C08F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6695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token-cell-32-12">
            <a:extLst xmlns:a="http://schemas.openxmlformats.org/drawingml/2006/main">
              <a:ext uri="{FF2B5EF4-FFF2-40B4-BE49-F238E27FC236}">
                <a16:creationId xmlns:a16="http://schemas.microsoft.com/office/drawing/2014/main" id="{FBC1C06D-B244-463D-BF58-BDF1F230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6695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token-cell-32-13">
            <a:extLst xmlns:a="http://schemas.openxmlformats.org/drawingml/2006/main">
              <a:ext uri="{FF2B5EF4-FFF2-40B4-BE49-F238E27FC236}">
                <a16:creationId xmlns:a16="http://schemas.microsoft.com/office/drawing/2014/main" id="{9CABE371-6404-428E-8871-44778788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6695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token-cell-32-14">
            <a:extLst xmlns:a="http://schemas.openxmlformats.org/drawingml/2006/main">
              <a:ext uri="{FF2B5EF4-FFF2-40B4-BE49-F238E27FC236}">
                <a16:creationId xmlns:a16="http://schemas.microsoft.com/office/drawing/2014/main" id="{7E1C770D-5108-4248-B593-3F55C615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26695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token-cell-32-15">
            <a:extLst xmlns:a="http://schemas.openxmlformats.org/drawingml/2006/main">
              <a:ext uri="{FF2B5EF4-FFF2-40B4-BE49-F238E27FC236}">
                <a16:creationId xmlns:a16="http://schemas.microsoft.com/office/drawing/2014/main" id="{0A1565F9-B52F-4D56-A45C-9E2A5750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6695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token-cell-32-16">
            <a:extLst xmlns:a="http://schemas.openxmlformats.org/drawingml/2006/main">
              <a:ext uri="{FF2B5EF4-FFF2-40B4-BE49-F238E27FC236}">
                <a16:creationId xmlns:a16="http://schemas.microsoft.com/office/drawing/2014/main" id="{996A2FE8-B071-4816-B859-7586079F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6695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token-cell-32-17">
            <a:extLst xmlns:a="http://schemas.openxmlformats.org/drawingml/2006/main">
              <a:ext uri="{FF2B5EF4-FFF2-40B4-BE49-F238E27FC236}">
                <a16:creationId xmlns:a16="http://schemas.microsoft.com/office/drawing/2014/main" id="{96033711-A618-4376-8201-A84F00E6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6695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token-cell-32-18">
            <a:extLst xmlns:a="http://schemas.openxmlformats.org/drawingml/2006/main">
              <a:ext uri="{FF2B5EF4-FFF2-40B4-BE49-F238E27FC236}">
                <a16:creationId xmlns:a16="http://schemas.microsoft.com/office/drawing/2014/main" id="{DA16015C-C6BE-418C-B854-A6CEECAA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26695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token-cell-32-19">
            <a:extLst xmlns:a="http://schemas.openxmlformats.org/drawingml/2006/main">
              <a:ext uri="{FF2B5EF4-FFF2-40B4-BE49-F238E27FC236}">
                <a16:creationId xmlns:a16="http://schemas.microsoft.com/office/drawing/2014/main" id="{DC004EAA-C27E-4BD0-813E-873F0658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6695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token-cell-32-20">
            <a:extLst xmlns:a="http://schemas.openxmlformats.org/drawingml/2006/main">
              <a:ext uri="{FF2B5EF4-FFF2-40B4-BE49-F238E27FC236}">
                <a16:creationId xmlns:a16="http://schemas.microsoft.com/office/drawing/2014/main" id="{87C4900B-F62E-4D27-A952-890999C1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26695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token-cell-32-21">
            <a:extLst xmlns:a="http://schemas.openxmlformats.org/drawingml/2006/main">
              <a:ext uri="{FF2B5EF4-FFF2-40B4-BE49-F238E27FC236}">
                <a16:creationId xmlns:a16="http://schemas.microsoft.com/office/drawing/2014/main" id="{AAEEEC45-1736-4C17-94D7-15E47075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6695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token-cell-32-22">
            <a:extLst xmlns:a="http://schemas.openxmlformats.org/drawingml/2006/main">
              <a:ext uri="{FF2B5EF4-FFF2-40B4-BE49-F238E27FC236}">
                <a16:creationId xmlns:a16="http://schemas.microsoft.com/office/drawing/2014/main" id="{50EB479B-B64A-45DA-BC01-B880B362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6695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token-cell-32-23">
            <a:extLst xmlns:a="http://schemas.openxmlformats.org/drawingml/2006/main">
              <a:ext uri="{FF2B5EF4-FFF2-40B4-BE49-F238E27FC236}">
                <a16:creationId xmlns:a16="http://schemas.microsoft.com/office/drawing/2014/main" id="{CD9B7528-BD2D-45CF-87F1-6752072B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6695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token-cell-32-24">
            <a:extLst xmlns:a="http://schemas.openxmlformats.org/drawingml/2006/main">
              <a:ext uri="{FF2B5EF4-FFF2-40B4-BE49-F238E27FC236}">
                <a16:creationId xmlns:a16="http://schemas.microsoft.com/office/drawing/2014/main" id="{5CB96801-BADB-48D5-8A9E-A51CC0F3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6695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token-cell-32-25">
            <a:extLst xmlns:a="http://schemas.openxmlformats.org/drawingml/2006/main">
              <a:ext uri="{FF2B5EF4-FFF2-40B4-BE49-F238E27FC236}">
                <a16:creationId xmlns:a16="http://schemas.microsoft.com/office/drawing/2014/main" id="{931A592E-51A4-4339-A4D3-2CE003F6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6695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token-cell-32-26">
            <a:extLst xmlns:a="http://schemas.openxmlformats.org/drawingml/2006/main">
              <a:ext uri="{FF2B5EF4-FFF2-40B4-BE49-F238E27FC236}">
                <a16:creationId xmlns:a16="http://schemas.microsoft.com/office/drawing/2014/main" id="{BFBE8E13-D1A1-4483-A7D4-7D659857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6695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token-cell-32-27">
            <a:extLst xmlns:a="http://schemas.openxmlformats.org/drawingml/2006/main">
              <a:ext uri="{FF2B5EF4-FFF2-40B4-BE49-F238E27FC236}">
                <a16:creationId xmlns:a16="http://schemas.microsoft.com/office/drawing/2014/main" id="{3E5C7D25-9462-4D39-A948-355B1B9B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6695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token-cell-32-28">
            <a:extLst xmlns:a="http://schemas.openxmlformats.org/drawingml/2006/main">
              <a:ext uri="{FF2B5EF4-FFF2-40B4-BE49-F238E27FC236}">
                <a16:creationId xmlns:a16="http://schemas.microsoft.com/office/drawing/2014/main" id="{1FDF3692-A3F8-4F1C-BFC7-601A1260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6695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token-cell-32-29">
            <a:extLst xmlns:a="http://schemas.openxmlformats.org/drawingml/2006/main">
              <a:ext uri="{FF2B5EF4-FFF2-40B4-BE49-F238E27FC236}">
                <a16:creationId xmlns:a16="http://schemas.microsoft.com/office/drawing/2014/main" id="{4A74C8E9-EECD-4B33-9C3E-803DAD1B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6695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" name="token-cell-32-30">
            <a:extLst xmlns:a="http://schemas.openxmlformats.org/drawingml/2006/main">
              <a:ext uri="{FF2B5EF4-FFF2-40B4-BE49-F238E27FC236}">
                <a16:creationId xmlns:a16="http://schemas.microsoft.com/office/drawing/2014/main" id="{02ABC676-E2F9-4E98-8B5D-48DEAAA1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6695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FB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token-cell-32-31">
            <a:extLst xmlns:a="http://schemas.openxmlformats.org/drawingml/2006/main">
              <a:ext uri="{FF2B5EF4-FFF2-40B4-BE49-F238E27FC236}">
                <a16:creationId xmlns:a16="http://schemas.microsoft.com/office/drawing/2014/main" id="{894F4FD1-A8AA-4735-9D31-8B9F184B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6695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FB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AD989A0-4816-43BA-91AA-C9748EEF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266950"/>
            <a:ext cx="609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8595A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B6803EA-5FCB-49B6-BE6A-002F3D88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62250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rPr>
              <a:t>已保留：前 8K 全量 INT2 与原精度 Sink（HBM）；Recent 原精度窗口与完整 SSM（HBF）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063DC7D-A296-4506-A752-1B14AAA8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105150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buNone/>
              <a:defRPr sz="157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buNone/>
              <a:defRPr sz="157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buNone/>
              <a:defRPr sz="157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buNone/>
              <a:defRPr sz="157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buNone/>
              <a:defRPr sz="157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buNone/>
              <a:defRPr sz="157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buNone/>
              <a:defRPr sz="157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buNone/>
              <a:defRPr sz="157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buNone/>
              <a:defRPr sz="157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rPr>
              <a:t>续接：SSM 8K＋8K 末窗。精度补充：另读 6K 原精度历史窗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A0F2AD9-1FCE-4F06-9AA4-1CAFE769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533775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B8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581497A-22B4-491A-A2CB-373090FB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53377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buNone/>
              <a:defRPr sz="157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buNone/>
              <a:defRPr sz="157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buNone/>
              <a:defRPr sz="157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buNone/>
              <a:defRPr sz="157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buNone/>
              <a:defRPr sz="157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buNone/>
              <a:defRPr sz="157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buNone/>
              <a:defRPr sz="157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buNone/>
              <a:defRPr sz="157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buNone/>
              <a:defRPr sz="157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rPr>
              <a:t>SSM 8K</a:t>
            </a:r>
          </a:p>
        </p:txBody>
      </p:sp>
      <p:cxnSp>
        <p:nvCxn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F357178-41F5-4176-A155-0A8096244805}"/>
              </a:ext>
            </a:extLst>
          </p:cNvPr>
          <p:cNvCxnSpPr/>
          <p:nvPr/>
        </p:nvCxnSpPr>
        <p:spPr>
          <a:xfrm xmlns:a="http://schemas.openxmlformats.org/drawingml/2006/main">
            <a:off x="3886200" y="3733800"/>
            <a:ext cx="2143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6394"/>
            </a:solidFill>
            <a:prstDash val="solid"/>
            <a:tailEnd type="triangle" w="sm" len="sm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5FCB27C-D124-4ACE-840F-EF5E5BDB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457575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rPr>
              <a:t>计算新增 4K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6A78565-09B6-46BE-A1BA-556C12ED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33775"/>
            <a:ext cx="1657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B8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7A610BA-AF8C-48FB-9A27-7A326642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33775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buNone/>
              <a:defRPr sz="157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buNone/>
              <a:defRPr sz="157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buNone/>
              <a:defRPr sz="157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buNone/>
              <a:defRPr sz="157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buNone/>
              <a:defRPr sz="157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buNone/>
              <a:defRPr sz="157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buNone/>
              <a:defRPr sz="157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buNone/>
              <a:defRPr sz="157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buNone/>
              <a:defRPr sz="157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rPr>
              <a:t>SSM 12K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0855AEA-D98E-42BB-AEAD-CE9E9AC5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718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rPr>
              <a:t>SSM 随计算更新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15D5A3D-9FCF-4378-9CAF-E3A73D49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4817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buNone/>
              <a:defRPr sz="18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buNone/>
              <a:defRPr sz="18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buNone/>
              <a:defRPr sz="18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buNone/>
              <a:defRPr sz="18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buNone/>
              <a:defRPr sz="18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buNone/>
              <a:defRPr sz="18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buNone/>
              <a:defRPr sz="18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buNone/>
              <a:defRPr sz="18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buNone/>
              <a:defRPr sz="18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rPr>
              <a:t>第二轮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ED4013C-2FFF-42CD-9005-2AD71BE1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5297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buNone/>
              <a:def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buNone/>
              <a:def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buNone/>
              <a:def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buNone/>
              <a:def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buNone/>
              <a:def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buNone/>
              <a:def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buNone/>
              <a:def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buNone/>
              <a:def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buNone/>
              <a:def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rPr>
              <a:t>新增 4K 已处理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99A7665-48A4-44C8-8CD9-C39D3DB0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2907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42846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buNone/>
              <a:defRPr sz="1350" b="1">
                <a:solidFill>
                  <a:srgbClr val="42846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buNone/>
              <a:defRPr sz="1350" b="1">
                <a:solidFill>
                  <a:srgbClr val="42846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buNone/>
              <a:defRPr sz="1350" b="1">
                <a:solidFill>
                  <a:srgbClr val="42846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buNone/>
              <a:defRPr sz="1350" b="1">
                <a:solidFill>
                  <a:srgbClr val="42846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buNone/>
              <a:defRPr sz="1350" b="1">
                <a:solidFill>
                  <a:srgbClr val="42846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buNone/>
              <a:defRPr sz="1350" b="1">
                <a:solidFill>
                  <a:srgbClr val="42846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buNone/>
              <a:defRPr sz="1350" b="1">
                <a:solidFill>
                  <a:srgbClr val="42846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buNone/>
              <a:defRPr sz="1350" b="1">
                <a:solidFill>
                  <a:srgbClr val="42846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buNone/>
              <a:defRPr sz="1350" b="1">
                <a:solidFill>
                  <a:srgbClr val="42846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42846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42846C"/>
                </a:solidFill>
                <a:latin typeface="Hiragino Sans GB"/>
                <a:ea typeface="Hiragino Sans GB"/>
                <a:cs typeface="Hiragino Sans GB"/>
              </a:rPr>
              <a:t>原精度历史窗口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42846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42846C"/>
                </a:solidFill>
                <a:latin typeface="Hiragino Sans GB"/>
                <a:ea typeface="Hiragino Sans GB"/>
                <a:cs typeface="Hiragino Sans GB"/>
              </a:rPr>
              <a:t>5.5K～6K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738294F-6CA1-437F-90C2-DF05D7BB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29125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2846C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DFFC27A-690E-4E76-9A60-C28189B1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23862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rPr>
              <a:t>8K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85D9E09-F466-4C4F-83C7-DF02294E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238625"/>
            <a:ext cx="74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buNone/>
              <a:defRPr sz="13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buNone/>
              <a:defRPr sz="13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buNone/>
              <a:defRPr sz="13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buNone/>
              <a:defRPr sz="13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buNone/>
              <a:defRPr sz="13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buNone/>
              <a:defRPr sz="13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buNone/>
              <a:defRPr sz="13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buNone/>
              <a:defRPr sz="13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buNone/>
              <a:defRPr sz="13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buNone/>
              <a:defRPr sz="13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rPr>
              <a:t>12K</a:t>
            </a:r>
          </a:p>
        </p:txBody>
      </p:sp>
      <p:sp>
        <p:nvSpPr>
          <p:cNvPr id="64" name="token-cell-48-0">
            <a:extLst xmlns:a="http://schemas.openxmlformats.org/drawingml/2006/main">
              <a:ext uri="{FF2B5EF4-FFF2-40B4-BE49-F238E27FC236}">
                <a16:creationId xmlns:a16="http://schemas.microsoft.com/office/drawing/2014/main" id="{C685027E-5AF8-43A9-B78F-9284E05B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C48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5" name="token-cell-48-1">
            <a:extLst xmlns:a="http://schemas.openxmlformats.org/drawingml/2006/main">
              <a:ext uri="{FF2B5EF4-FFF2-40B4-BE49-F238E27FC236}">
                <a16:creationId xmlns:a16="http://schemas.microsoft.com/office/drawing/2014/main" id="{55876629-33D7-4B1E-BB2F-BE052FE2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6" name="token-cell-48-2">
            <a:extLst xmlns:a="http://schemas.openxmlformats.org/drawingml/2006/main">
              <a:ext uri="{FF2B5EF4-FFF2-40B4-BE49-F238E27FC236}">
                <a16:creationId xmlns:a16="http://schemas.microsoft.com/office/drawing/2014/main" id="{65D6F983-750C-4E7A-8733-EE5D7B99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7" name="token-cell-48-3">
            <a:extLst xmlns:a="http://schemas.openxmlformats.org/drawingml/2006/main">
              <a:ext uri="{FF2B5EF4-FFF2-40B4-BE49-F238E27FC236}">
                <a16:creationId xmlns:a16="http://schemas.microsoft.com/office/drawing/2014/main" id="{7E54EC68-6003-4704-AA83-5B7908ED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8" name="token-cell-48-4">
            <a:extLst xmlns:a="http://schemas.openxmlformats.org/drawingml/2006/main">
              <a:ext uri="{FF2B5EF4-FFF2-40B4-BE49-F238E27FC236}">
                <a16:creationId xmlns:a16="http://schemas.microsoft.com/office/drawing/2014/main" id="{8BBF449E-1486-4678-A16F-6BE032D5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9" name="token-cell-48-5">
            <a:extLst xmlns:a="http://schemas.openxmlformats.org/drawingml/2006/main">
              <a:ext uri="{FF2B5EF4-FFF2-40B4-BE49-F238E27FC236}">
                <a16:creationId xmlns:a16="http://schemas.microsoft.com/office/drawing/2014/main" id="{5FE41DE6-3067-4900-8B16-B7646077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0" name="token-cell-48-6">
            <a:extLst xmlns:a="http://schemas.openxmlformats.org/drawingml/2006/main">
              <a:ext uri="{FF2B5EF4-FFF2-40B4-BE49-F238E27FC236}">
                <a16:creationId xmlns:a16="http://schemas.microsoft.com/office/drawing/2014/main" id="{A3C6A6FD-0787-4053-A8C6-4E6DB9FD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1" name="token-cell-48-7">
            <a:extLst xmlns:a="http://schemas.openxmlformats.org/drawingml/2006/main">
              <a:ext uri="{FF2B5EF4-FFF2-40B4-BE49-F238E27FC236}">
                <a16:creationId xmlns:a16="http://schemas.microsoft.com/office/drawing/2014/main" id="{2E37A9C2-38F6-4A16-954F-365D10E0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2" name="token-cell-48-8">
            <a:extLst xmlns:a="http://schemas.openxmlformats.org/drawingml/2006/main">
              <a:ext uri="{FF2B5EF4-FFF2-40B4-BE49-F238E27FC236}">
                <a16:creationId xmlns:a16="http://schemas.microsoft.com/office/drawing/2014/main" id="{D9A0E37F-6731-4872-BBC1-8D38E84D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3" name="token-cell-48-9">
            <a:extLst xmlns:a="http://schemas.openxmlformats.org/drawingml/2006/main">
              <a:ext uri="{FF2B5EF4-FFF2-40B4-BE49-F238E27FC236}">
                <a16:creationId xmlns:a16="http://schemas.microsoft.com/office/drawing/2014/main" id="{64B680A2-C28A-42AD-961C-F93C3522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4" name="token-cell-48-10">
            <a:extLst xmlns:a="http://schemas.openxmlformats.org/drawingml/2006/main">
              <a:ext uri="{FF2B5EF4-FFF2-40B4-BE49-F238E27FC236}">
                <a16:creationId xmlns:a16="http://schemas.microsoft.com/office/drawing/2014/main" id="{97E41FE7-03A9-4153-9827-52DF51E0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5" name="token-cell-48-11">
            <a:extLst xmlns:a="http://schemas.openxmlformats.org/drawingml/2006/main">
              <a:ext uri="{FF2B5EF4-FFF2-40B4-BE49-F238E27FC236}">
                <a16:creationId xmlns:a16="http://schemas.microsoft.com/office/drawing/2014/main" id="{F2B449E6-4124-4171-A3DB-374AC208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6" name="token-cell-48-12">
            <a:extLst xmlns:a="http://schemas.openxmlformats.org/drawingml/2006/main">
              <a:ext uri="{FF2B5EF4-FFF2-40B4-BE49-F238E27FC236}">
                <a16:creationId xmlns:a16="http://schemas.microsoft.com/office/drawing/2014/main" id="{5D54A0A8-0E81-4FE9-8DB4-703C4EEE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7" name="token-cell-48-13">
            <a:extLst xmlns:a="http://schemas.openxmlformats.org/drawingml/2006/main">
              <a:ext uri="{FF2B5EF4-FFF2-40B4-BE49-F238E27FC236}">
                <a16:creationId xmlns:a16="http://schemas.microsoft.com/office/drawing/2014/main" id="{87CCADCA-35F7-470D-88E5-55D061CA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8" name="token-cell-48-14">
            <a:extLst xmlns:a="http://schemas.openxmlformats.org/drawingml/2006/main">
              <a:ext uri="{FF2B5EF4-FFF2-40B4-BE49-F238E27FC236}">
                <a16:creationId xmlns:a16="http://schemas.microsoft.com/office/drawing/2014/main" id="{21EF0E88-086C-43BA-A5EB-6FB023A7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9" name="token-cell-48-15">
            <a:extLst xmlns:a="http://schemas.openxmlformats.org/drawingml/2006/main">
              <a:ext uri="{FF2B5EF4-FFF2-40B4-BE49-F238E27FC236}">
                <a16:creationId xmlns:a16="http://schemas.microsoft.com/office/drawing/2014/main" id="{D77E5EC3-6DAF-4044-8F5B-96C18EB0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0" name="token-cell-48-16">
            <a:extLst xmlns:a="http://schemas.openxmlformats.org/drawingml/2006/main">
              <a:ext uri="{FF2B5EF4-FFF2-40B4-BE49-F238E27FC236}">
                <a16:creationId xmlns:a16="http://schemas.microsoft.com/office/drawing/2014/main" id="{51BBA8DA-31A6-476B-857D-045248E9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1" name="token-cell-48-17">
            <a:extLst xmlns:a="http://schemas.openxmlformats.org/drawingml/2006/main">
              <a:ext uri="{FF2B5EF4-FFF2-40B4-BE49-F238E27FC236}">
                <a16:creationId xmlns:a16="http://schemas.microsoft.com/office/drawing/2014/main" id="{E1497EE6-79CB-47E3-8003-919D9346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2" name="token-cell-48-18">
            <a:extLst xmlns:a="http://schemas.openxmlformats.org/drawingml/2006/main">
              <a:ext uri="{FF2B5EF4-FFF2-40B4-BE49-F238E27FC236}">
                <a16:creationId xmlns:a16="http://schemas.microsoft.com/office/drawing/2014/main" id="{C262CA57-51A2-4BEC-BA87-F62D9C74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3" name="token-cell-48-19">
            <a:extLst xmlns:a="http://schemas.openxmlformats.org/drawingml/2006/main">
              <a:ext uri="{FF2B5EF4-FFF2-40B4-BE49-F238E27FC236}">
                <a16:creationId xmlns:a16="http://schemas.microsoft.com/office/drawing/2014/main" id="{10A932D1-8BC4-4685-A53C-C6878AA4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4" name="token-cell-48-20">
            <a:extLst xmlns:a="http://schemas.openxmlformats.org/drawingml/2006/main">
              <a:ext uri="{FF2B5EF4-FFF2-40B4-BE49-F238E27FC236}">
                <a16:creationId xmlns:a16="http://schemas.microsoft.com/office/drawing/2014/main" id="{470DE594-FA79-491B-93E9-9CB87ACE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5" name="token-cell-48-21">
            <a:extLst xmlns:a="http://schemas.openxmlformats.org/drawingml/2006/main">
              <a:ext uri="{FF2B5EF4-FFF2-40B4-BE49-F238E27FC236}">
                <a16:creationId xmlns:a16="http://schemas.microsoft.com/office/drawing/2014/main" id="{F658CAA2-701E-49F2-B55E-3A66BCE9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6" name="token-cell-48-22">
            <a:extLst xmlns:a="http://schemas.openxmlformats.org/drawingml/2006/main">
              <a:ext uri="{FF2B5EF4-FFF2-40B4-BE49-F238E27FC236}">
                <a16:creationId xmlns:a16="http://schemas.microsoft.com/office/drawing/2014/main" id="{532C2309-0928-4B9E-907D-D16CEA73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46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7" name="token-cell-48-23">
            <a:extLst xmlns:a="http://schemas.openxmlformats.org/drawingml/2006/main">
              <a:ext uri="{FF2B5EF4-FFF2-40B4-BE49-F238E27FC236}">
                <a16:creationId xmlns:a16="http://schemas.microsoft.com/office/drawing/2014/main" id="{CF275E52-9072-445E-AB86-9BAA6396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46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8" name="token-cell-48-24">
            <a:extLst xmlns:a="http://schemas.openxmlformats.org/drawingml/2006/main">
              <a:ext uri="{FF2B5EF4-FFF2-40B4-BE49-F238E27FC236}">
                <a16:creationId xmlns:a16="http://schemas.microsoft.com/office/drawing/2014/main" id="{3325FFB4-9C2F-4FE0-8028-42FD8546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9" name="token-cell-48-25">
            <a:extLst xmlns:a="http://schemas.openxmlformats.org/drawingml/2006/main">
              <a:ext uri="{FF2B5EF4-FFF2-40B4-BE49-F238E27FC236}">
                <a16:creationId xmlns:a16="http://schemas.microsoft.com/office/drawing/2014/main" id="{AEE3FDCC-9144-49F5-987C-E41B3292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0" name="token-cell-48-26">
            <a:extLst xmlns:a="http://schemas.openxmlformats.org/drawingml/2006/main">
              <a:ext uri="{FF2B5EF4-FFF2-40B4-BE49-F238E27FC236}">
                <a16:creationId xmlns:a16="http://schemas.microsoft.com/office/drawing/2014/main" id="{11533679-B9FE-42E3-B2FD-E31AC101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1" name="token-cell-48-27">
            <a:extLst xmlns:a="http://schemas.openxmlformats.org/drawingml/2006/main">
              <a:ext uri="{FF2B5EF4-FFF2-40B4-BE49-F238E27FC236}">
                <a16:creationId xmlns:a16="http://schemas.microsoft.com/office/drawing/2014/main" id="{4E1D4494-2BAD-4260-9DE6-E3C11C55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2" name="token-cell-48-28">
            <a:extLst xmlns:a="http://schemas.openxmlformats.org/drawingml/2006/main">
              <a:ext uri="{FF2B5EF4-FFF2-40B4-BE49-F238E27FC236}">
                <a16:creationId xmlns:a16="http://schemas.microsoft.com/office/drawing/2014/main" id="{6B184D7C-7198-4658-93A0-2E9648D5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3" name="token-cell-48-29">
            <a:extLst xmlns:a="http://schemas.openxmlformats.org/drawingml/2006/main">
              <a:ext uri="{FF2B5EF4-FFF2-40B4-BE49-F238E27FC236}">
                <a16:creationId xmlns:a16="http://schemas.microsoft.com/office/drawing/2014/main" id="{109886BC-0200-4D7E-9E7C-A1F2EBD0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4" name="token-cell-48-30">
            <a:extLst xmlns:a="http://schemas.openxmlformats.org/drawingml/2006/main">
              <a:ext uri="{FF2B5EF4-FFF2-40B4-BE49-F238E27FC236}">
                <a16:creationId xmlns:a16="http://schemas.microsoft.com/office/drawing/2014/main" id="{03330AF1-BD8C-42DD-8C97-2F901084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5" name="token-cell-48-31">
            <a:extLst xmlns:a="http://schemas.openxmlformats.org/drawingml/2006/main">
              <a:ext uri="{FF2B5EF4-FFF2-40B4-BE49-F238E27FC236}">
                <a16:creationId xmlns:a16="http://schemas.microsoft.com/office/drawing/2014/main" id="{8B2EBB58-C666-4445-A1CA-7F135B61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6" name="token-cell-48-32">
            <a:extLst xmlns:a="http://schemas.openxmlformats.org/drawingml/2006/main">
              <a:ext uri="{FF2B5EF4-FFF2-40B4-BE49-F238E27FC236}">
                <a16:creationId xmlns:a16="http://schemas.microsoft.com/office/drawing/2014/main" id="{D08FFBF4-B28B-48ED-A416-9AA0E1E4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7" name="token-cell-48-33">
            <a:extLst xmlns:a="http://schemas.openxmlformats.org/drawingml/2006/main">
              <a:ext uri="{FF2B5EF4-FFF2-40B4-BE49-F238E27FC236}">
                <a16:creationId xmlns:a16="http://schemas.microsoft.com/office/drawing/2014/main" id="{CFB550C0-6440-4E9D-A322-E8F7ABFF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8" name="token-cell-48-34">
            <a:extLst xmlns:a="http://schemas.openxmlformats.org/drawingml/2006/main">
              <a:ext uri="{FF2B5EF4-FFF2-40B4-BE49-F238E27FC236}">
                <a16:creationId xmlns:a16="http://schemas.microsoft.com/office/drawing/2014/main" id="{C62B78E3-F74C-4999-95FD-A00FCBAE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9" name="token-cell-48-35">
            <a:extLst xmlns:a="http://schemas.openxmlformats.org/drawingml/2006/main">
              <a:ext uri="{FF2B5EF4-FFF2-40B4-BE49-F238E27FC236}">
                <a16:creationId xmlns:a16="http://schemas.microsoft.com/office/drawing/2014/main" id="{A7B28285-686C-4E2A-9882-9BE2ED81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0" name="token-cell-48-36">
            <a:extLst xmlns:a="http://schemas.openxmlformats.org/drawingml/2006/main">
              <a:ext uri="{FF2B5EF4-FFF2-40B4-BE49-F238E27FC236}">
                <a16:creationId xmlns:a16="http://schemas.microsoft.com/office/drawing/2014/main" id="{A5B460DD-575B-4A7D-B6D5-3248A062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1" name="token-cell-48-37">
            <a:extLst xmlns:a="http://schemas.openxmlformats.org/drawingml/2006/main">
              <a:ext uri="{FF2B5EF4-FFF2-40B4-BE49-F238E27FC236}">
                <a16:creationId xmlns:a16="http://schemas.microsoft.com/office/drawing/2014/main" id="{3A41D180-C27D-4970-9601-6F120B3A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2" name="token-cell-48-38">
            <a:extLst xmlns:a="http://schemas.openxmlformats.org/drawingml/2006/main">
              <a:ext uri="{FF2B5EF4-FFF2-40B4-BE49-F238E27FC236}">
                <a16:creationId xmlns:a16="http://schemas.microsoft.com/office/drawing/2014/main" id="{A9BCBE4A-6AFF-4DD0-9310-FCEEF98A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3" name="token-cell-48-39">
            <a:extLst xmlns:a="http://schemas.openxmlformats.org/drawingml/2006/main">
              <a:ext uri="{FF2B5EF4-FFF2-40B4-BE49-F238E27FC236}">
                <a16:creationId xmlns:a16="http://schemas.microsoft.com/office/drawing/2014/main" id="{73C72EC9-4441-4177-9AD8-441E54CC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4" name="token-cell-48-40">
            <a:extLst xmlns:a="http://schemas.openxmlformats.org/drawingml/2006/main">
              <a:ext uri="{FF2B5EF4-FFF2-40B4-BE49-F238E27FC236}">
                <a16:creationId xmlns:a16="http://schemas.microsoft.com/office/drawing/2014/main" id="{0BC4AB56-BA3A-4CA7-984C-28D2E414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5" name="token-cell-48-41">
            <a:extLst xmlns:a="http://schemas.openxmlformats.org/drawingml/2006/main">
              <a:ext uri="{FF2B5EF4-FFF2-40B4-BE49-F238E27FC236}">
                <a16:creationId xmlns:a16="http://schemas.microsoft.com/office/drawing/2014/main" id="{1B2D10EE-BDE2-476B-AC9E-98D41225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6" name="token-cell-48-42">
            <a:extLst xmlns:a="http://schemas.openxmlformats.org/drawingml/2006/main">
              <a:ext uri="{FF2B5EF4-FFF2-40B4-BE49-F238E27FC236}">
                <a16:creationId xmlns:a16="http://schemas.microsoft.com/office/drawing/2014/main" id="{3474A62F-4D86-4FB7-ABC1-438500A1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7" name="token-cell-48-43">
            <a:extLst xmlns:a="http://schemas.openxmlformats.org/drawingml/2006/main">
              <a:ext uri="{FF2B5EF4-FFF2-40B4-BE49-F238E27FC236}">
                <a16:creationId xmlns:a16="http://schemas.microsoft.com/office/drawing/2014/main" id="{8B51E59D-E638-499B-9373-A36746CE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8" name="token-cell-48-44">
            <a:extLst xmlns:a="http://schemas.openxmlformats.org/drawingml/2006/main">
              <a:ext uri="{FF2B5EF4-FFF2-40B4-BE49-F238E27FC236}">
                <a16:creationId xmlns:a16="http://schemas.microsoft.com/office/drawing/2014/main" id="{7F7BC112-356A-4B2C-8F3D-0E251349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9" name="token-cell-48-45">
            <a:extLst xmlns:a="http://schemas.openxmlformats.org/drawingml/2006/main">
              <a:ext uri="{FF2B5EF4-FFF2-40B4-BE49-F238E27FC236}">
                <a16:creationId xmlns:a16="http://schemas.microsoft.com/office/drawing/2014/main" id="{7B3DB0FC-51B2-4164-85F9-B1697468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0" name="token-cell-48-46">
            <a:extLst xmlns:a="http://schemas.openxmlformats.org/drawingml/2006/main">
              <a:ext uri="{FF2B5EF4-FFF2-40B4-BE49-F238E27FC236}">
                <a16:creationId xmlns:a16="http://schemas.microsoft.com/office/drawing/2014/main" id="{1339D9C4-55E6-4E66-BFA0-026452F1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FB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1" name="token-cell-48-47">
            <a:extLst xmlns:a="http://schemas.openxmlformats.org/drawingml/2006/main">
              <a:ext uri="{FF2B5EF4-FFF2-40B4-BE49-F238E27FC236}">
                <a16:creationId xmlns:a16="http://schemas.microsoft.com/office/drawing/2014/main" id="{57D37228-CB16-4670-A2F4-97D5E6E4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533900"/>
            <a:ext cx="19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FB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5DD2CE2-1722-455A-AF79-AD8905B1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33900"/>
            <a:ext cx="9144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8595A2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65B64A0-3D59-48B5-A930-73B83462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057775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B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AA7A48A-AF0E-427C-B873-35CDFF2E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991100"/>
            <a:ext cx="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B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2F68AF0-8A4B-408D-AAB9-24E63209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91100"/>
            <a:ext cx="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B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9B7A610-1700-4775-BEE2-26B1A544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095875"/>
            <a:ext cx="609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buNone/>
              <a:def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buNone/>
              <a:def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buNone/>
              <a:def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buNone/>
              <a:def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buNone/>
              <a:def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buNone/>
              <a:def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buNone/>
              <a:def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buNone/>
              <a:def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buNone/>
              <a:def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rPr>
              <a:t>复用前 8K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4AED5F1-A1FC-46DA-9641-FE6F8C7A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5777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B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791D56E-1850-4C7B-AFE2-A072B7F7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91100"/>
            <a:ext cx="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B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3017CD2-35A2-435D-ABC8-7181E849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4991100"/>
            <a:ext cx="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B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069C18C-5552-4B5D-B789-0FF2020B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95875"/>
            <a:ext cx="304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buNone/>
              <a:def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buNone/>
              <a:def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buNone/>
              <a:def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buNone/>
              <a:def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buNone/>
              <a:def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buNone/>
              <a:def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buNone/>
              <a:def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buNone/>
              <a:def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buNone/>
              <a:def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rPr>
              <a:t>新处理 4K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B9F9BD1-0423-4110-ACEA-F3F0D24A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67350"/>
            <a:ext cx="1116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buNone/>
              <a:defRPr sz="142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buNone/>
              <a:defRPr sz="142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buNone/>
              <a:defRPr sz="142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buNone/>
              <a:defRPr sz="142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buNone/>
              <a:defRPr sz="142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buNone/>
              <a:defRPr sz="142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buNone/>
              <a:defRPr sz="142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buNone/>
              <a:defRPr sz="142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buNone/>
              <a:defRPr sz="142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rPr>
              <a:t>6K 窗口替代同区间 INT2 读取，不恢复 SSM 6K。尾部 Recent 为 11.5K～12K。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DA033FC-1D8B-4457-9EDE-F6C84B90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13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buNone/>
              <a:defRPr sz="1313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buNone/>
              <a:defRPr sz="1313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buNone/>
              <a:defRPr sz="1313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buNone/>
              <a:defRPr sz="1313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buNone/>
              <a:defRPr sz="1313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buNone/>
              <a:defRPr sz="1313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buNone/>
              <a:defRPr sz="1313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buNone/>
              <a:defRPr sz="1313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buNone/>
              <a:defRPr sz="1313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13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3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rPr>
              <a:t>示意：n = 2K，原精度为 BF16，W = 512 token，每格 256 token。任务精度效果待验证。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AA8DE18-72B6-4C1B-B2C5-56C2207F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245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B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4C671E5-E7FA-484B-9877-5C31E3B7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19825"/>
            <a:ext cx="11163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buNone/>
              <a:defRPr sz="17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buNone/>
              <a:defRPr sz="17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buNone/>
              <a:defRPr sz="17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buNone/>
              <a:defRPr sz="17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buNone/>
              <a:defRPr sz="17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buNone/>
              <a:defRPr sz="17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buNone/>
              <a:defRPr sz="17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buNone/>
              <a:defRPr sz="17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buNone/>
              <a:defRPr sz="17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rPr>
              <a:t>收益：①完整续接混合前缀；②补充历史原精度，减轻所选 KV 的 INT2 量化损失。</a:t>
            </a:r>
          </a:p>
        </p:txBody>
      </p:sp>
    </p:spTree>
    <p:extLst>
      <p:ext uri="{BB962C8B-B14F-4D97-AF65-F5344CB8AC3E}">
        <p14:creationId xmlns:p14="http://schemas.microsoft.com/office/powerpoint/2010/main" val="154720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2D9B635-91DD-41B4-A86C-267DBD04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buNone/>
              <a:defRPr sz="30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buNone/>
              <a:defRPr sz="30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buNone/>
              <a:defRPr sz="30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buNone/>
              <a:defRPr sz="30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buNone/>
              <a:defRPr sz="30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buNone/>
              <a:defRPr sz="30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buNone/>
              <a:defRPr sz="30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buNone/>
              <a:defRPr sz="30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buNone/>
              <a:defRPr sz="30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rPr>
              <a:t>本发明技术方案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A1379-F3E2-4850-9D9E-48D31E26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71475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buNone/>
              <a:defRPr sz="127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buNone/>
              <a:defRPr sz="127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buNone/>
              <a:defRPr sz="127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buNone/>
              <a:defRPr sz="127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buNone/>
              <a:defRPr sz="127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buNone/>
              <a:defRPr sz="127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buNone/>
              <a:defRPr sz="127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buNone/>
              <a:defRPr sz="127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buNone/>
              <a:defRPr sz="127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rPr>
              <a:t>2 /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4AFC3-1E3A-424A-8026-F47A01DC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42975"/>
            <a:ext cx="11163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buNone/>
              <a:defRPr sz="17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buNone/>
              <a:defRPr sz="17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buNone/>
              <a:defRPr sz="17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buNone/>
              <a:defRPr sz="17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buNone/>
              <a:defRPr sz="17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buNone/>
              <a:defRPr sz="17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buNone/>
              <a:defRPr sz="17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buNone/>
              <a:defRPr sz="17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buNone/>
              <a:defRPr sz="17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rPr>
              <a:t>HBM 保存常用压缩历史与活动副本，HBF 按 n 保存 SSM 及同位置原精度窗口。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03988-81E8-4DD5-BD25-F6029D69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43025"/>
            <a:ext cx="1116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buNone/>
              <a:def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buNone/>
              <a:def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buNone/>
              <a:def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buNone/>
              <a:def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buNone/>
              <a:def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buNone/>
              <a:def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buNone/>
              <a:def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buNone/>
              <a:def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buNone/>
              <a:def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rPr>
              <a:t>命中位置恢复状态与末窗，另取少量原精度历史窗。AICore 始终从 HBM 取数。</a:t>
            </a:r>
          </a:p>
        </p:txBody>
      </p:sp>
      <p:sp>
        <p:nvSpPr>
          <p:cNvPr id="5" name="AICore">
            <a:extLst xmlns:a="http://schemas.openxmlformats.org/drawingml/2006/main">
              <a:ext uri="{FF2B5EF4-FFF2-40B4-BE49-F238E27FC236}">
                <a16:creationId xmlns:a16="http://schemas.microsoft.com/office/drawing/2014/main" id="{EA5B5E01-22E5-4218-884B-1260F5C3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EF"/>
          </a:solidFill>
          <a:ln xmlns:a="http://schemas.openxmlformats.org/drawingml/2006/main" w="12383">
            <a:solidFill>
              <a:srgbClr val="8595A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68EC58-27BC-41FA-BC20-3A2BB6F2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142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buNone/>
              <a:defRPr sz="21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buNone/>
              <a:defRPr sz="21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buNone/>
              <a:defRPr sz="21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buNone/>
              <a:defRPr sz="21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buNone/>
              <a:defRPr sz="21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buNone/>
              <a:defRPr sz="21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buNone/>
              <a:defRPr sz="21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buNone/>
              <a:defRPr sz="21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buNone/>
              <a:defRPr sz="21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rPr>
              <a:t>AICore</a:t>
            </a:r>
          </a:p>
        </p:txBody>
      </p:sp>
      <p:sp>
        <p:nvSpPr>
          <p:cNvPr id="7" name="HBM">
            <a:extLst xmlns:a="http://schemas.openxmlformats.org/drawingml/2006/main">
              <a:ext uri="{FF2B5EF4-FFF2-40B4-BE49-F238E27FC236}">
                <a16:creationId xmlns:a16="http://schemas.microsoft.com/office/drawing/2014/main" id="{D013DB37-BC91-4DBE-98B9-8CEAD1B9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76450"/>
            <a:ext cx="40957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13335">
            <a:solidFill>
              <a:srgbClr val="8595A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498DC1-934D-49B1-AD9B-E326A6CC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09800"/>
            <a:ext cx="367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buNone/>
              <a:defRPr sz="23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buNone/>
              <a:defRPr sz="23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buNone/>
              <a:defRPr sz="23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buNone/>
              <a:defRPr sz="23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buNone/>
              <a:defRPr sz="23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buNone/>
              <a:defRPr sz="23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buNone/>
              <a:defRPr sz="23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buNone/>
              <a:defRPr sz="23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buNone/>
              <a:defRPr sz="23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rPr>
              <a:t>HBM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1B0313-503B-45F5-A444-0676D635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28900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buNone/>
              <a:def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buNone/>
              <a:def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buNone/>
              <a:def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buNone/>
              <a:def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buNone/>
              <a:def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buNone/>
              <a:def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buNone/>
              <a:def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buNone/>
              <a:def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buNone/>
              <a:def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rPr>
              <a:t>高频读取与实时更新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E9B2BB-5A47-418F-85FA-F07A0052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19425"/>
            <a:ext cx="1657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C4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B0DD41-F773-4D78-93A0-911EB25D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05150"/>
            <a:ext cx="1466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rPr>
              <a:t>Sink 原精度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84B424-82B4-4A99-BBED-8B6445E0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38525"/>
            <a:ext cx="1466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buNone/>
              <a:defRPr sz="1350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buNone/>
              <a:defRPr sz="1350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buNone/>
              <a:defRPr sz="1350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buNone/>
              <a:defRPr sz="1350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buNone/>
              <a:defRPr sz="1350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buNone/>
              <a:defRPr sz="1350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buNone/>
              <a:defRPr sz="1350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buNone/>
              <a:defRPr sz="1350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buNone/>
              <a:defRPr sz="1350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rPr>
              <a:t>相同前缀复用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8DB2CA-00D8-435E-B84B-93B58A31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19425"/>
            <a:ext cx="1885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0952B9-8CBA-482C-815A-E131E120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05150"/>
            <a:ext cx="1695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rPr>
              <a:t>INT2 全历史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6355B2-3A8E-4B9F-898C-EA85E6F2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38525"/>
            <a:ext cx="1695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buNone/>
              <a:defRPr sz="1350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buNone/>
              <a:defRPr sz="1350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buNone/>
              <a:defRPr sz="1350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buNone/>
              <a:defRPr sz="1350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buNone/>
              <a:defRPr sz="1350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buNone/>
              <a:defRPr sz="1350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buNone/>
              <a:defRPr sz="1350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buNone/>
              <a:defRPr sz="1350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buNone/>
              <a:defRPr sz="1350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rPr>
              <a:t>每步注意力读取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6AF73F-4EDE-468A-B166-55B87F96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943350"/>
            <a:ext cx="16573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F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F908BC-9E21-43A8-BFA5-12CA809F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048125"/>
            <a:ext cx="1466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rPr>
              <a:t>当前 Recent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FE1BC8-1A1E-45E9-BB94-F84345D5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381500"/>
            <a:ext cx="1466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buNone/>
              <a:defRPr sz="1350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buNone/>
              <a:defRPr sz="1350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buNone/>
              <a:defRPr sz="1350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buNone/>
              <a:defRPr sz="1350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buNone/>
              <a:defRPr sz="1350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buNone/>
              <a:defRPr sz="1350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buNone/>
              <a:defRPr sz="1350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buNone/>
              <a:defRPr sz="1350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buNone/>
              <a:defRPr sz="1350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rPr>
              <a:t>随计算滑动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5C0CEB-2940-490F-A674-28C47572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43350"/>
            <a:ext cx="18859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B8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D2C5D5-864F-4664-B031-9800C5D1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19550"/>
            <a:ext cx="1695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rPr>
              <a:t>SSM 工作槽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EFFDA6-2255-44BD-855D-0D2133C1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314825"/>
            <a:ext cx="1695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buNone/>
              <a:defRPr sz="127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buNone/>
              <a:defRPr sz="127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buNone/>
              <a:defRPr sz="127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buNone/>
              <a:defRPr sz="127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buNone/>
              <a:defRPr sz="127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buNone/>
              <a:defRPr sz="127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buNone/>
              <a:defRPr sz="127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buNone/>
              <a:defRPr sz="127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buNone/>
              <a:defRPr sz="127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27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rPr>
              <a:t>运行与迁移状态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rPr>
              <a:t>活动时实时更新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9D7578-6EE1-4C19-81C6-CB95543B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895850"/>
            <a:ext cx="36766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E5"/>
          </a:solidFill>
          <a:ln xmlns:a="http://schemas.openxmlformats.org/drawingml/2006/main" w="9525">
            <a:solidFill>
              <a:srgbClr val="42846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330DE7-41CA-4CF2-8F39-F7ADBAD7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953000"/>
            <a:ext cx="3448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42846C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buNone/>
              <a:defRPr sz="1575" b="1">
                <a:solidFill>
                  <a:srgbClr val="42846C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buNone/>
              <a:defRPr sz="1575" b="1">
                <a:solidFill>
                  <a:srgbClr val="42846C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buNone/>
              <a:defRPr sz="1575" b="1">
                <a:solidFill>
                  <a:srgbClr val="42846C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buNone/>
              <a:defRPr sz="1575" b="1">
                <a:solidFill>
                  <a:srgbClr val="42846C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buNone/>
              <a:defRPr sz="1575" b="1">
                <a:solidFill>
                  <a:srgbClr val="42846C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buNone/>
              <a:defRPr sz="1575" b="1">
                <a:solidFill>
                  <a:srgbClr val="42846C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buNone/>
              <a:defRPr sz="1575" b="1">
                <a:solidFill>
                  <a:srgbClr val="42846C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buNone/>
              <a:defRPr sz="1575" b="1">
                <a:solidFill>
                  <a:srgbClr val="42846C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buNone/>
              <a:defRPr sz="1575" b="1">
                <a:solidFill>
                  <a:srgbClr val="42846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42846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42846C"/>
                </a:solidFill>
                <a:latin typeface="Hiragino Sans GB"/>
                <a:ea typeface="Hiragino Sans GB"/>
                <a:cs typeface="Hiragino Sans GB"/>
              </a:rPr>
              <a:t>选中的历史原精度窗口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831B02-4487-46CB-89A1-73763522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200650"/>
            <a:ext cx="3448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buNone/>
              <a:defRPr sz="127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buNone/>
              <a:defRPr sz="127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buNone/>
              <a:defRPr sz="127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buNone/>
              <a:defRPr sz="127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buNone/>
              <a:defRPr sz="127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buNone/>
              <a:defRPr sz="127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buNone/>
              <a:defRPr sz="127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buNone/>
              <a:defRPr sz="127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buNone/>
              <a:defRPr sz="127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27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rPr>
              <a:t>少量读回，在 HBM 复用</a:t>
            </a:r>
          </a:p>
        </p:txBody>
      </p:sp>
      <p:sp>
        <p:nvSpPr>
          <p:cNvPr id="25" name="HBF">
            <a:extLst xmlns:a="http://schemas.openxmlformats.org/drawingml/2006/main">
              <a:ext uri="{FF2B5EF4-FFF2-40B4-BE49-F238E27FC236}">
                <a16:creationId xmlns:a16="http://schemas.microsoft.com/office/drawing/2014/main" id="{6103A051-AFEF-420D-BADF-42651D49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76450"/>
            <a:ext cx="25146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13335">
            <a:solidFill>
              <a:srgbClr val="8595A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6D008F-C0C8-423D-B794-1D3F266E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098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buNone/>
              <a:defRPr sz="23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buNone/>
              <a:defRPr sz="23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buNone/>
              <a:defRPr sz="23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buNone/>
              <a:defRPr sz="23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buNone/>
              <a:defRPr sz="23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buNone/>
              <a:defRPr sz="23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buNone/>
              <a:defRPr sz="23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buNone/>
              <a:defRPr sz="23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buNone/>
              <a:defRPr sz="23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rPr>
              <a:t>HBF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8DE3B2-4AD5-4902-9B43-37418863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289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buNone/>
              <a:def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buNone/>
              <a:def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buNone/>
              <a:def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buNone/>
              <a:def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buNone/>
              <a:def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buNone/>
              <a:def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buNone/>
              <a:def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buNone/>
              <a:def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buNone/>
              <a:def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rPr>
              <a:t>每 n 保存同位置一组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84C349-11F7-4BCE-A2D5-48428923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62275"/>
            <a:ext cx="904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buNone/>
              <a:def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buNone/>
              <a:def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buNone/>
              <a:def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buNone/>
              <a:def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buNone/>
              <a:def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buNone/>
              <a:def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buNone/>
              <a:def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buNone/>
              <a:def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buNone/>
              <a:def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rPr>
              <a:t>SSM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6068A3-8196-4CC6-A18E-ECEEB1BC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2962275"/>
            <a:ext cx="11144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buNone/>
              <a:def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buNone/>
              <a:def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buNone/>
              <a:def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buNone/>
              <a:def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buNone/>
              <a:def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buNone/>
              <a:def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buNone/>
              <a:def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buNone/>
              <a:def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buNone/>
              <a:def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rPr>
              <a:t>原精度窗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355722-B504-4310-BEFA-16404036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86125"/>
            <a:ext cx="9048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B8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D5E2D4-15E8-4B0D-8F8A-85C3AFE2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86125"/>
            <a:ext cx="90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rPr>
              <a:t>2K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14B51A-7D5C-4EA9-AC13-829D4440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286125"/>
            <a:ext cx="11144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F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EE993B-1082-47D7-BB4F-CD25201E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286125"/>
            <a:ext cx="1114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rPr>
              <a:t>2K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E2C299-3AAB-4383-BA8A-CBA9F461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24275"/>
            <a:ext cx="9048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B8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AEFE48-D460-4A95-8AE3-93F5A461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24275"/>
            <a:ext cx="90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rPr>
              <a:t>4K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A9CD5D-7084-4B4C-918E-F7BAB684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724275"/>
            <a:ext cx="11144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F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046E7D-C284-4FCE-A2DE-AC534395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724275"/>
            <a:ext cx="1114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rPr>
              <a:t>4K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AE9055-FAD9-4AEE-A1D6-A9E4852A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162425"/>
            <a:ext cx="9048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B8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889595-A574-4F21-A474-7FE8F754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162425"/>
            <a:ext cx="90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rPr>
              <a:t>6K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5C1C08-079A-434D-8956-F9713C9F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4162425"/>
            <a:ext cx="11144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4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C6B699-A5B4-470F-8090-31599C50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4162425"/>
            <a:ext cx="1114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buNone/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buNone/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buNone/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buNone/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buNone/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buNone/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buNone/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buNone/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buNone/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6K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0153B3-F7E3-45A0-AA9F-38FE2B90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00575"/>
            <a:ext cx="9048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B8DB"/>
          </a:solidFill>
          <a:ln xmlns:a="http://schemas.openxmlformats.org/drawingml/2006/main" w="15240">
            <a:solidFill>
              <a:srgbClr val="77639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FC06589-A437-40D7-8FC0-73B13FB0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00575"/>
            <a:ext cx="90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buNone/>
              <a:defRPr sz="14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buNone/>
              <a:defRPr sz="14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buNone/>
              <a:defRPr sz="14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buNone/>
              <a:defRPr sz="14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buNone/>
              <a:defRPr sz="14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buNone/>
              <a:defRPr sz="14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buNone/>
              <a:defRPr sz="14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buNone/>
              <a:defRPr sz="14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buNone/>
              <a:defRPr sz="14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rPr>
              <a:t>8K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5A09F9-1E9C-4607-8B5B-833BD958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4600575"/>
            <a:ext cx="11144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FBE"/>
          </a:solidFill>
          <a:ln xmlns:a="http://schemas.openxmlformats.org/drawingml/2006/main" w="15240">
            <a:solidFill>
              <a:srgbClr val="42846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45482C4-46FD-4B93-B5BC-16FC8B9F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4600575"/>
            <a:ext cx="1114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buNone/>
              <a:defRPr sz="14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buNone/>
              <a:defRPr sz="14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buNone/>
              <a:defRPr sz="14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buNone/>
              <a:defRPr sz="14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buNone/>
              <a:defRPr sz="14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buNone/>
              <a:defRPr sz="14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buNone/>
              <a:defRPr sz="14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buNone/>
              <a:defRPr sz="14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buNone/>
              <a:defRPr sz="14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rPr>
              <a:t>8K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14BBA71-09F8-4B55-9C4A-D345AD47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133975"/>
            <a:ext cx="2133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rPr>
              <a:t>8K 状态与末窗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rPr>
              <a:t>6K 窗口作精度补充</a:t>
            </a:r>
          </a:p>
        </p:txBody>
      </p: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24453E8-9693-4791-B143-36C69463B638}"/>
              </a:ext>
            </a:extLst>
          </p:cNvPr>
          <p:cNvCxnSpPr/>
          <p:nvPr/>
        </p:nvCxnSpPr>
        <p:spPr>
          <a:xfrm xmlns:a="http://schemas.openxmlformats.org/drawingml/2006/main">
            <a:off x="1990725" y="3952875"/>
            <a:ext cx="933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86877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AD9F76-58A4-4596-8159-E8F2AD01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14725"/>
            <a:ext cx="914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rPr>
              <a:t>每步读写</a:t>
            </a:r>
          </a:p>
        </p:txBody>
      </p:sp>
      <p:cxnSp>
        <p:nvCxn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F7A12E0-FE70-4B3D-83AF-D3FAE01EF001}"/>
              </a:ext>
            </a:extLst>
          </p:cNvPr>
          <p:cNvCxnSpPr/>
          <p:nvPr/>
        </p:nvCxnSpPr>
        <p:spPr>
          <a:xfrm xmlns:a="http://schemas.openxmlformats.org/drawingml/2006/main">
            <a:off x="7143750" y="3419475"/>
            <a:ext cx="1933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6394"/>
            </a:solidFill>
            <a:prstDash val="solid"/>
            <a:tailEnd type="triangle" w="sm" len="sm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925BB53-4E86-4870-BA07-5BD00323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86075"/>
            <a:ext cx="1857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rPr>
              <a:t>每 n 保存 SSM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rPr>
              <a:t>及原精度窗口</a:t>
            </a:r>
          </a:p>
        </p:txBody>
      </p:sp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B5D2AFE-BAFC-46D0-AA55-AFCDD1DBD773}"/>
              </a:ext>
            </a:extLst>
          </p:cNvPr>
          <p:cNvCxnSpPr/>
          <p:nvPr/>
        </p:nvCxnSpPr>
        <p:spPr>
          <a:xfrm xmlns:a="http://schemas.openxmlformats.org/drawingml/2006/main">
            <a:off x="7143750" y="4600575"/>
            <a:ext cx="1933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846C"/>
            </a:solidFill>
            <a:prstDash val="solid"/>
            <a:headEnd type="triangle" w="sm" len="sm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246D7C3-EB3C-4E86-89C2-20F3E8CD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714875"/>
            <a:ext cx="1857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13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buNone/>
              <a:defRPr sz="1313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buNone/>
              <a:defRPr sz="1313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buNone/>
              <a:defRPr sz="1313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buNone/>
              <a:defRPr sz="1313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buNone/>
              <a:defRPr sz="1313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buNone/>
              <a:defRPr sz="1313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buNone/>
              <a:defRPr sz="1313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buNone/>
              <a:defRPr sz="1313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buNone/>
              <a:defRPr sz="1313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313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3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rPr>
              <a:t>8K 状态与末窗</a:t>
            </a:r>
          </a:p>
          <a:p xmlns:a="http://schemas.openxmlformats.org/drawingml/2006/main">
            <a:pPr algn="ctr">
              <a:buNone/>
              <a:defRPr sz="1313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3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rPr>
              <a:t>＋选中 6K 历史窗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A936E6F-5622-4B93-98E3-4DEA31A7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53100"/>
            <a:ext cx="1116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buNone/>
              <a:defRPr sz="142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buNone/>
              <a:defRPr sz="142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buNone/>
              <a:defRPr sz="142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buNone/>
              <a:defRPr sz="142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buNone/>
              <a:defRPr sz="142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buNone/>
              <a:defRPr sz="142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buNone/>
              <a:defRPr sz="142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buNone/>
              <a:defRPr sz="142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buNone/>
              <a:defRPr sz="142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586877"/>
                </a:solidFill>
                <a:latin typeface="Hiragino Sans GB"/>
                <a:ea typeface="Hiragino Sans GB"/>
                <a:cs typeface="Hiragino Sans GB"/>
              </a:rPr>
              <a:t>原精度窗口在覆盖前截取，选中的窗口在 HBM 复用。精度与性能未做硬件实测。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D142B59-2E4D-4651-92E5-BE5CA3C6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36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CA95841-D73C-4402-BAC5-90058725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1116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C2C39"/>
                </a:solidFill>
                <a:latin typeface="Hiragino Sans GB"/>
                <a:ea typeface="Hiragino Sans GB"/>
                <a:cs typeface="Hiragino Sans GB"/>
              </a:rPr>
              <a:t>收益：完整 SSM 与原精度末窗配对，支持 INT2 混合注意力的前缀完整续接。</a:t>
            </a:r>
          </a:p>
        </p:txBody>
      </p:sp>
    </p:spTree>
    <p:extLst>
      <p:ext uri="{BB962C8B-B14F-4D97-AF65-F5344CB8AC3E}">
        <p14:creationId xmlns:p14="http://schemas.microsoft.com/office/powerpoint/2010/main" val="10943833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2026-10-19T01:36:59.4510000Z</dcterms:created>
  <dcterms:modified xsi:type="dcterms:W3CDTF">2026-10-19T01:36:59.4510000Z</dcterms:modified>
</coreProperties>
</file>