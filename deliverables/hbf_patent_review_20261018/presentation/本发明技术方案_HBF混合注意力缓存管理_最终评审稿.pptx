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bed60d79a8c492b" /><Relationship Type="http://schemas.openxmlformats.org/officeDocument/2006/relationships/extended-properties" Target="/docProps/app.xml" Id="R22a231755aaf41b6" /><Relationship Type="http://schemas.openxmlformats.org/officeDocument/2006/relationships/officeDocument" Target="/ppt/presentation.xml" Id="R54c559f12c1d47b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2f7d5d4f2084048"/>
  </p:sldMasterIdLst>
  <p:notesMasterIdLst>
    <p:notesMasterId xmlns:r="http://schemas.openxmlformats.org/officeDocument/2006/relationships" r:id="R54ae30c3ef9c41ba"/>
  </p:notesMasterIdLst>
  <p:sldIdLst>
    <p:sldId xmlns:r="http://schemas.openxmlformats.org/officeDocument/2006/relationships" id="256" r:id="Rd2d5d627764f47e5"/>
    <p:sldId xmlns:r="http://schemas.openxmlformats.org/officeDocument/2006/relationships" id="257" r:id="Rad35f5f6ea8e4f7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4f826bebbe147e4" /><Relationship Type="http://schemas.openxmlformats.org/officeDocument/2006/relationships/slideMaster" Target="/ppt/slideMasters/slideMaster1.xml" Id="Re2f7d5d4f2084048" /><Relationship Type="http://schemas.openxmlformats.org/officeDocument/2006/relationships/notesMaster" Target="/ppt/notesMasters/notesMaster1.xml" Id="R54ae30c3ef9c41ba" /><Relationship Type="http://schemas.openxmlformats.org/officeDocument/2006/relationships/presProps" Target="/ppt/presProps.xml" Id="R33f8e8e7ed9f4f47" /><Relationship Type="http://schemas.openxmlformats.org/officeDocument/2006/relationships/tableStyles" Target="/ppt/tableStyles.xml" Id="R150ae5f129a947d4" /><Relationship Type="http://schemas.openxmlformats.org/officeDocument/2006/relationships/slide" Target="/ppt/slides/slide1.xml" Id="Rd2d5d627764f47e5" /><Relationship Type="http://schemas.openxmlformats.org/officeDocument/2006/relationships/slide" Target="/ppt/slides/slide2.xml" Id="Rad35f5f6ea8e4f7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24010dcda2a4dc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aafbe61aa39446c" /><Relationship Type="http://schemas.openxmlformats.org/officeDocument/2006/relationships/notesMaster" Target="/ppt/notesMasters/notesMaster1.xml" Id="Rdf75d415313f456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48cf049db714fe0" /><Relationship Type="http://schemas.openxmlformats.org/officeDocument/2006/relationships/notesMaster" Target="/ppt/notesMasters/notesMaster1.xml" Id="Rf846ace4ce2c4f6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本页为拟议方案。一项配套技术手段是兼容 INT2 与混合注意力的完整前缀续接，必须同时有同位置完整 SSM、原精度末窗以及 HBM 中可用的 Sink 和 INT2 历史。另一项配套技术手段是按需取回中间的原精度 KV 窗口，使所选窗口避免再次承受 INT2 表示误差；整模任务质量和性能尚未验证。原精度在本示例为 BF16，不是将全模型改为 FP32。</a:t>
            </a:r>
          </a:p>
          <a:p xmlns:a="http://schemas.openxmlformats.org/drawingml/2006/main">
            <a:r>
              <a:t>示例 n=2K，W=512 token，每格256 token。在合法的已提交位置2K、4K、6K、8K，每个位置保存完整SSM和同位置末尾W个token的原精度窗口。原精度窗口必须在滑出当前Recent并被覆盖前截取。第一轮到6K时已留存[5.5K,6K)原精度窗口，到8K时已留存[7.5K,8K)末窗和完整SSM8K。此时前8K全量INT2历史与原精度Sink保留在HBM，各检查点的Recent原精度窗口和完整SSM保存于HBF，活动计算的窗口与状态工作副本仍在HBM。示意各点都可导出完整状态。若实际引擎只允许某些边界导出，n目标须服从这些边界，轮次提前结束须在合法提交点封口。SSM、对应末窗与HBM中的KV依赖全部齐备后才发布可恢复点。</a:t>
            </a:r>
          </a:p>
          <a:p xmlns:a="http://schemas.openxmlformats.org/drawingml/2006/main">
            <a:r>
              <a:t>第一条32格为1格Sink、29格INT2、2格Recent，表示已处理8K。第二条48格表示已处理完新增4K达到12K：第1格Sink，22与23号零起点格为选中的原精度历史窗口[5.5K,6K)，末2格为当前Recent[11.5K,12K)，其余读取INT2。原精度历史窗口和当前Recent是不同角色；同一token区间只采用一种表示，原精度窗口替代而非叠加该区间INT2读取，避免Attention重复计数。</a:t>
            </a:r>
          </a:p>
          <a:p xmlns:a="http://schemas.openxmlformats.org/drawingml/2006/main">
            <a:r>
              <a:t>第二轮从SSM8K及8K末窗续接。6K原精度窗口只补充后续Attention读取，不恢复SSM6K，不修改已经形成的SSM8K，也不能逆转此前计算已产生的误差。原精度历史窗口从HBF读回HBM后可在后续多步中复用，不逐query从HBF向AICore供数。旧8K末窗在新增内容刚开始时短时沿用，Recent随已经计算的位置前移；不能在新增4K尚未计算时提前把Recent放到12K尾端。SSM随新增内容计算持续更新至12K。</a:t>
            </a:r>
          </a:p>
          <a:p xmlns:a="http://schemas.openxmlformats.org/drawingml/2006/main">
            <a:r>
              <a:t>多个按n保存的成组检查点用于不同位置的前缀命中；如果部署场景只允许连续追加，可将SSM保留简化为每会话最新点。示例不以任意选择历史原精度窗口保证整模质量提高，选窗策略和效果需验证。</a:t>
            </a:r>
          </a:p>
          <a:p xmlns:a="http://schemas.openxmlformats.org/drawingml/2006/main">
            <a:r>
              <a:t>2026-10-19保护主题调整：本页保留为8K→12K应用场景，检查点和历史原精度窗口复用均为技术手段，不单独主张创新。拟保护的是第二页基于实际OSCAR物理格式的HBM/二级缓存混合精度槽位布局及映射控制装置。DeepSeek-V4 §3.5.2已公开Periodic Checkpointing：https://arxiv.org/html/2606.19348v1#S3.SS5.SSS2 。不得将本页既有两个收益当作已确认可独立保护的专利点。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本页先现状后方案，所示原生BF16仅指FULL的K/V，GDN Conv/SSM保持原生dtype。现状二级缓存是普通BF16有效块存储的概念示意，不能理解为本工作区已实现二级缓存。</a:t>
            </a:r>
          </a:p>
          <a:p xmlns:a="http://schemas.openxmlformats.org/drawingml/2006/main">
            <a:r>
              <a:t>源码与远端HEAD核查：codex/oscar-bf16-attention，5613f748e432104e3038743744dc95ccef495b64。candidate为striped_fp32_v2，experimental_aligned_math=True，BF16 attention=True，request_windows=False；因此使用物理页padding窗口，不是独立request-window sidecar。</a:t>
            </a:r>
          </a:p>
          <a:p xmlns:a="http://schemas.openxmlformats.org/drawingml/2006/main">
            <a:r>
              <a:t>真实整池布局：单raw N*P字节，A=N*C，B=N*M，C=N*F，F=P-C-M。native匹配几何F=M，FULL K在N*C+b*M，V在N(C+M)+b*M；GDN Conv在b*C，SSM在N*C+b*M。不同group必须拥有不同活跃block ID，不能把同一b画成GDN和FULL同时占用。没有b*P连续页拷贝假设。原生K和V每token各512B在两个分区，1024B是有效载荷合计，不是相邻slot。</a:t>
            </a:r>
          </a:p>
          <a:p xmlns:a="http://schemas.openxmlformats.org/drawingml/2006/main">
            <a:r>
              <a:t>OSCAR真实GM连续slot144B：Kcodes0..63、Vcodes64..127、Kscale128..131、K normalized-zero132..135、Vscale136..139、V normalized-zero140..143；四个参数均FP32。注意不是SlotLayout的旧canonical偏移。INT2 slot地址=N*C+b*M+(t*H+h)*144。Window页=N(C+M)+b*F，其内BF16 K、BF16 V、int64 tags依次排列。tags存页内位置，源映射需结合逻辑block，不能将物理b当token位置。读取UB对齐160B不是GM存储大小。</a:t>
            </a:r>
          </a:p>
          <a:p xmlns:a="http://schemas.openxmlformats.org/drawingml/2006/main">
            <a:r>
              <a:t>配置推导（非device采样）：官方Qwen3.8配置快照SHA256 191e0af232104ed8b65258cf3fb2b842e288008baca7633c11b82a1ac7203aab，加TP4/MTP3，Conv=(6,2560)BF16,C30720B；SSM=(12,128,128)FP32,M786432B；P1603584B；native块1536token；OSCAR块5376token。Sink64/Recent256/MTP3使窗口预留323行，K/V各165376B、tags2584B。池数及N由runtime确定，不固定旧16Tensor。</a:t>
            </a:r>
          </a:p>
          <a:p xmlns:a="http://schemas.openxmlformats.org/drawingml/2006/main">
            <a:r>
              <a:t>拟议二级FULL槽存描述头、连续INT2有效槽、BF16窗口K/V与逻辑位置，GDN独立对象槽存描述头、Conv、SSM。源HBM不同区段映射到目标对象槽内offset，恢复按新N和b计算地址，不能回写旧指针。控制装置仅需格式识别、槽位转换和地址映射。热数据可保留HBM，只有选定有效载荷迁移，不是整池镜像。无效padding不搬运。单独归档窗口并不意味着所属物理块可回收，块中仍有有效载荷则继续驻留；释放block ID也不自动缩小raw预分配字节。当前计算Q/K/V和CV scratch位于独立工作区，未画入持久KV池。</a:t>
            </a:r>
          </a:p>
          <a:p xmlns:a="http://schemas.openxmlformats.org/drawingml/2006/main">
            <a:r>
              <a:t>代码依据：oscar_ascend/layout.py:89-179；oscar_ascend/lifecycle.py:37-104；oscar_ascend/runtime.py:689,829-834；csrc/kernels/store_aligned_int2.cpp:134-166；csrc/kernels/attention_aligned_unpack.h:43-46；references/vllm-ascend/vllm_ascend/worker/model_runner_v1.py:4569-4577,4681-4712。</a:t>
            </a:r>
          </a:p>
          <a:p xmlns:a="http://schemas.openxmlformats.org/drawingml/2006/main">
            <a:r>
              <a:t>专利边界：周期检查点与原精度恢复为技术手段，不独立主张新颖性；DeepSeek-V4 §3.5.2已公开Periodic Checkpointing https://arxiv.org/html/2606.19348v1#S3.SS5.SSS2 。拟保护为具体多格式区段到二级槽及恢复地址关系，仍需完整查新。未连接真机、未做性能测试。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f9abb9d4a7425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3e3b879dad4c4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fac5bb9d81426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d96375c52d4a0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733e19fcf8413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291b06e6b84b4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929EFFE-3384-48A5-99E3-4F9BADF99DE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6A2783A1-ABD7-43B1-B61E-8CE2F11B2D2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A7BD3E33-EF32-433C-A828-C21E451B3E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169CC2B-9F0F-4CD9-8DCF-16E3D875B37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D49D2EE-E15D-48C3-B7F5-F5BB9FDEEE2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DF39905-B2DF-422E-9494-3BC2B2AD492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55D892D-A1D2-4D3E-A00C-79489858E81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AD23DE1-51CC-44C3-85F1-B77EA8DBF00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91DF39F-D65D-4B44-9E47-C5004BB57C4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BBA7EAE-6E5A-4031-91FF-2B1A8DD11D0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fd63fff03204a7d" /><Relationship Type="http://schemas.openxmlformats.org/officeDocument/2006/relationships/slideLayout" Target="/ppt/slideLayouts/slideLayout1.xml" Id="R439ff6af19054420" /><Relationship Type="http://schemas.openxmlformats.org/officeDocument/2006/relationships/slideLayout" Target="/ppt/slideLayouts/slideLayout2.xml" Id="R2fcc91d29d03441c" /><Relationship Type="http://schemas.openxmlformats.org/officeDocument/2006/relationships/slideLayout" Target="/ppt/slideLayouts/slideLayout3.xml" Id="R9c2bda9164c34c11" /><Relationship Type="http://schemas.openxmlformats.org/officeDocument/2006/relationships/slideLayout" Target="/ppt/slideLayouts/slideLayout4.xml" Id="Rb9f142323e9e469b" /><Relationship Type="http://schemas.openxmlformats.org/officeDocument/2006/relationships/slideLayout" Target="/ppt/slideLayouts/slideLayout5.xml" Id="R02ded2777ddb4942" /><Relationship Type="http://schemas.openxmlformats.org/officeDocument/2006/relationships/slideLayout" Target="/ppt/slideLayouts/slideLayout6.xml" Id="R5aad5d3673884b4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39ff6af19054420"/>
    <p:sldLayoutId xmlns:r="http://schemas.openxmlformats.org/officeDocument/2006/relationships" id="2147483650" r:id="R2fcc91d29d03441c"/>
    <p:sldLayoutId xmlns:r="http://schemas.openxmlformats.org/officeDocument/2006/relationships" id="2147483651" r:id="R9c2bda9164c34c11"/>
    <p:sldLayoutId xmlns:r="http://schemas.openxmlformats.org/officeDocument/2006/relationships" id="2147483652" r:id="Rb9f142323e9e469b"/>
    <p:sldLayoutId xmlns:r="http://schemas.openxmlformats.org/officeDocument/2006/relationships" id="2147483653" r:id="R02ded2777ddb4942"/>
    <p:sldLayoutId xmlns:r="http://schemas.openxmlformats.org/officeDocument/2006/relationships" id="2147483654" r:id="R5aad5d3673884b4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660696c2a824a0d" /><Relationship Type="http://schemas.openxmlformats.org/officeDocument/2006/relationships/notesSlide" Target="/ppt/notesSlides/notesSlide1.xml" Id="R1f4568ff9a1c4ea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490f2e319834e21" /><Relationship Type="http://schemas.openxmlformats.org/officeDocument/2006/relationships/notesSlide" Target="/ppt/notesSlides/notesSlide2.xml" Id="R3188112071b94b1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ECD72CEE-1B70-4C23-9411-909E1448C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7175"/>
            <a:ext cx="952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buNone/>
              <a:defRPr sz="30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buNone/>
              <a:defRPr sz="30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buNone/>
              <a:defRPr sz="30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buNone/>
              <a:defRPr sz="30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buNone/>
              <a:defRPr sz="30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buNone/>
              <a:defRPr sz="30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buNone/>
              <a:defRPr sz="30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buNone/>
              <a:defRPr sz="30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buNone/>
              <a:defRPr sz="30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0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rPr>
              <a:t>本发明技术方案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DCF243-3BE3-4467-AA19-DD8DE2B04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371475"/>
            <a:ext cx="819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7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defPPr>
            <a:lvl1pPr algn="r">
              <a:buNone/>
              <a:defRPr sz="127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1pPr>
            <a:lvl2pPr algn="r">
              <a:buNone/>
              <a:defRPr sz="127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2pPr>
            <a:lvl3pPr algn="r">
              <a:buNone/>
              <a:defRPr sz="127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3pPr>
            <a:lvl4pPr algn="r">
              <a:buNone/>
              <a:defRPr sz="127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4pPr>
            <a:lvl5pPr algn="r">
              <a:buNone/>
              <a:defRPr sz="127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5pPr>
            <a:lvl6pPr algn="r">
              <a:buNone/>
              <a:defRPr sz="127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6pPr>
            <a:lvl7pPr algn="r">
              <a:buNone/>
              <a:defRPr sz="127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7pPr>
            <a:lvl8pPr algn="r">
              <a:buNone/>
              <a:defRPr sz="127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8pPr>
            <a:lvl9pPr algn="r">
              <a:buNone/>
              <a:defRPr sz="127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7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rPr>
              <a:t>1 /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1E5FD7-746F-42A8-B021-735D95156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14400"/>
            <a:ext cx="11163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buNone/>
              <a:defRPr sz="1575" b="0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buNone/>
              <a:defRPr sz="1575" b="0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buNone/>
              <a:defRPr sz="1575" b="0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buNone/>
              <a:defRPr sz="1575" b="0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buNone/>
              <a:defRPr sz="1575" b="0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buNone/>
              <a:defRPr sz="1575" b="0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buNone/>
              <a:defRPr sz="1575" b="0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buNone/>
              <a:defRPr sz="1575" b="0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buNone/>
              <a:defRPr sz="1575" b="0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rPr>
              <a:t>本发明提出一种基于 HBF 的混合注意力极低比特缓存管理架构，形态为 HBM/HBF 分层缓存模块，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rPr>
              <a:t>适用于 Agent 多轮对话与前缀复用。以已处理 8K 历史续接新增 4K、达到 12K 为例：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DEA7F7-BB0B-43FF-81F8-61877F14C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1762125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BC4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598C6D-15C0-4E23-9ABA-840A2E610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724025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rPr>
              <a:t>Sink 原精度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465BDA-6F30-4153-9E72-5A9A911BE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1762125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E26C95-E5A8-4757-B98E-138EFF8E5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1724025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rPr>
              <a:t>INT2 历史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E3D371-2717-4896-B69F-B05D54DDE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762125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4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2A783B-B4AD-4DF9-8DBD-C86E805B1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724025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rPr>
              <a:t>原精度历史窗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C43E9B-0921-4390-BAC5-0C0DD2AB5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762125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6CFB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34D5EB-4D5E-4749-80DF-AD8CCB395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24025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rPr>
              <a:t>Recent 原精度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78B766-4FA8-44E3-ABAC-C71978979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62175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buNone/>
              <a:defRPr sz="18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buNone/>
              <a:defRPr sz="18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buNone/>
              <a:defRPr sz="18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buNone/>
              <a:defRPr sz="18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buNone/>
              <a:defRPr sz="18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buNone/>
              <a:defRPr sz="18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buNone/>
              <a:defRPr sz="18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buNone/>
              <a:defRPr sz="18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buNone/>
              <a:defRPr sz="18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rPr>
              <a:t>第一轮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4AC5C9-F9A6-4205-AADF-EAE43E716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66975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buNone/>
              <a:defRPr sz="157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buNone/>
              <a:defRPr sz="157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buNone/>
              <a:defRPr sz="157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buNone/>
              <a:defRPr sz="157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buNone/>
              <a:defRPr sz="157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buNone/>
              <a:defRPr sz="157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buNone/>
              <a:defRPr sz="157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buNone/>
              <a:defRPr sz="157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buNone/>
              <a:defRPr sz="157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rPr>
              <a:t>已处理 8K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8B708A-C45D-44E8-B03B-EC9579BB0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981200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rPr>
              <a:t>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62948D-EFE2-425A-9E4C-4A6C21719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981200"/>
            <a:ext cx="666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buNone/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buNone/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buNone/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buNone/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buNone/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buNone/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buNone/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buNone/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buNone/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rPr>
              <a:t>8K</a:t>
            </a:r>
          </a:p>
        </p:txBody>
      </p:sp>
      <p:sp>
        <p:nvSpPr>
          <p:cNvPr id="16" name="token-cell-32-0">
            <a:extLst xmlns:a="http://schemas.openxmlformats.org/drawingml/2006/main">
              <a:ext uri="{FF2B5EF4-FFF2-40B4-BE49-F238E27FC236}">
                <a16:creationId xmlns:a16="http://schemas.microsoft.com/office/drawing/2014/main" id="{17588E7B-9EB0-4E73-BB2E-01558A31F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226695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BC48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token-cell-32-1">
            <a:extLst xmlns:a="http://schemas.openxmlformats.org/drawingml/2006/main">
              <a:ext uri="{FF2B5EF4-FFF2-40B4-BE49-F238E27FC236}">
                <a16:creationId xmlns:a16="http://schemas.microsoft.com/office/drawing/2014/main" id="{FADBF10E-06E4-489E-98BF-45FA622FF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26695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8" name="token-cell-32-2">
            <a:extLst xmlns:a="http://schemas.openxmlformats.org/drawingml/2006/main">
              <a:ext uri="{FF2B5EF4-FFF2-40B4-BE49-F238E27FC236}">
                <a16:creationId xmlns:a16="http://schemas.microsoft.com/office/drawing/2014/main" id="{51D2DCAE-4603-4BE9-BAF8-70ECCB866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26695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token-cell-32-3">
            <a:extLst xmlns:a="http://schemas.openxmlformats.org/drawingml/2006/main">
              <a:ext uri="{FF2B5EF4-FFF2-40B4-BE49-F238E27FC236}">
                <a16:creationId xmlns:a16="http://schemas.microsoft.com/office/drawing/2014/main" id="{0D7F4BE5-A13E-44A1-84FB-3C37662CD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26695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0" name="token-cell-32-4">
            <a:extLst xmlns:a="http://schemas.openxmlformats.org/drawingml/2006/main">
              <a:ext uri="{FF2B5EF4-FFF2-40B4-BE49-F238E27FC236}">
                <a16:creationId xmlns:a16="http://schemas.microsoft.com/office/drawing/2014/main" id="{E826D82D-3369-41D0-94F4-64EB8F812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26695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1" name="token-cell-32-5">
            <a:extLst xmlns:a="http://schemas.openxmlformats.org/drawingml/2006/main">
              <a:ext uri="{FF2B5EF4-FFF2-40B4-BE49-F238E27FC236}">
                <a16:creationId xmlns:a16="http://schemas.microsoft.com/office/drawing/2014/main" id="{CB972984-A231-46DC-88E7-9A5FADF2F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26695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2" name="token-cell-32-6">
            <a:extLst xmlns:a="http://schemas.openxmlformats.org/drawingml/2006/main">
              <a:ext uri="{FF2B5EF4-FFF2-40B4-BE49-F238E27FC236}">
                <a16:creationId xmlns:a16="http://schemas.microsoft.com/office/drawing/2014/main" id="{9319D18D-0472-49AC-9E28-47C04CF85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26695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token-cell-32-7">
            <a:extLst xmlns:a="http://schemas.openxmlformats.org/drawingml/2006/main">
              <a:ext uri="{FF2B5EF4-FFF2-40B4-BE49-F238E27FC236}">
                <a16:creationId xmlns:a16="http://schemas.microsoft.com/office/drawing/2014/main" id="{2FE780F3-B1A9-4A32-B0CB-926FA132D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26695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4" name="token-cell-32-8">
            <a:extLst xmlns:a="http://schemas.openxmlformats.org/drawingml/2006/main">
              <a:ext uri="{FF2B5EF4-FFF2-40B4-BE49-F238E27FC236}">
                <a16:creationId xmlns:a16="http://schemas.microsoft.com/office/drawing/2014/main" id="{EF0FE699-4E63-4BCA-AA46-B571FE5AB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26695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token-cell-32-9">
            <a:extLst xmlns:a="http://schemas.openxmlformats.org/drawingml/2006/main">
              <a:ext uri="{FF2B5EF4-FFF2-40B4-BE49-F238E27FC236}">
                <a16:creationId xmlns:a16="http://schemas.microsoft.com/office/drawing/2014/main" id="{81C07A3C-47B0-4E0B-90D1-20C1C5DC9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26695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6" name="token-cell-32-10">
            <a:extLst xmlns:a="http://schemas.openxmlformats.org/drawingml/2006/main">
              <a:ext uri="{FF2B5EF4-FFF2-40B4-BE49-F238E27FC236}">
                <a16:creationId xmlns:a16="http://schemas.microsoft.com/office/drawing/2014/main" id="{393CE42D-404F-42C5-A374-A0F71C08D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26695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7" name="token-cell-32-11">
            <a:extLst xmlns:a="http://schemas.openxmlformats.org/drawingml/2006/main">
              <a:ext uri="{FF2B5EF4-FFF2-40B4-BE49-F238E27FC236}">
                <a16:creationId xmlns:a16="http://schemas.microsoft.com/office/drawing/2014/main" id="{5E6B2F54-F848-4340-A77B-96B3C08F2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26695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8" name="token-cell-32-12">
            <a:extLst xmlns:a="http://schemas.openxmlformats.org/drawingml/2006/main">
              <a:ext uri="{FF2B5EF4-FFF2-40B4-BE49-F238E27FC236}">
                <a16:creationId xmlns:a16="http://schemas.microsoft.com/office/drawing/2014/main" id="{FBC1C06D-B244-463D-BF58-BDF1F2300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26695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9" name="token-cell-32-13">
            <a:extLst xmlns:a="http://schemas.openxmlformats.org/drawingml/2006/main">
              <a:ext uri="{FF2B5EF4-FFF2-40B4-BE49-F238E27FC236}">
                <a16:creationId xmlns:a16="http://schemas.microsoft.com/office/drawing/2014/main" id="{9CABE371-6404-428E-8871-44778788A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26695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0" name="token-cell-32-14">
            <a:extLst xmlns:a="http://schemas.openxmlformats.org/drawingml/2006/main">
              <a:ext uri="{FF2B5EF4-FFF2-40B4-BE49-F238E27FC236}">
                <a16:creationId xmlns:a16="http://schemas.microsoft.com/office/drawing/2014/main" id="{7E1C770D-5108-4248-B593-3F55C6159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26695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1" name="token-cell-32-15">
            <a:extLst xmlns:a="http://schemas.openxmlformats.org/drawingml/2006/main">
              <a:ext uri="{FF2B5EF4-FFF2-40B4-BE49-F238E27FC236}">
                <a16:creationId xmlns:a16="http://schemas.microsoft.com/office/drawing/2014/main" id="{0A1565F9-B52F-4D56-A45C-9E2A5750F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26695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2" name="token-cell-32-16">
            <a:extLst xmlns:a="http://schemas.openxmlformats.org/drawingml/2006/main">
              <a:ext uri="{FF2B5EF4-FFF2-40B4-BE49-F238E27FC236}">
                <a16:creationId xmlns:a16="http://schemas.microsoft.com/office/drawing/2014/main" id="{996A2FE8-B071-4816-B859-7586079F8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26695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3" name="token-cell-32-17">
            <a:extLst xmlns:a="http://schemas.openxmlformats.org/drawingml/2006/main">
              <a:ext uri="{FF2B5EF4-FFF2-40B4-BE49-F238E27FC236}">
                <a16:creationId xmlns:a16="http://schemas.microsoft.com/office/drawing/2014/main" id="{96033711-A618-4376-8201-A84F00E67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26695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4" name="token-cell-32-18">
            <a:extLst xmlns:a="http://schemas.openxmlformats.org/drawingml/2006/main">
              <a:ext uri="{FF2B5EF4-FFF2-40B4-BE49-F238E27FC236}">
                <a16:creationId xmlns:a16="http://schemas.microsoft.com/office/drawing/2014/main" id="{DA16015C-C6BE-418C-B854-A6CEECAAD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26695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5" name="token-cell-32-19">
            <a:extLst xmlns:a="http://schemas.openxmlformats.org/drawingml/2006/main">
              <a:ext uri="{FF2B5EF4-FFF2-40B4-BE49-F238E27FC236}">
                <a16:creationId xmlns:a16="http://schemas.microsoft.com/office/drawing/2014/main" id="{DC004EAA-C27E-4BD0-813E-873F0658C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26695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6" name="token-cell-32-20">
            <a:extLst xmlns:a="http://schemas.openxmlformats.org/drawingml/2006/main">
              <a:ext uri="{FF2B5EF4-FFF2-40B4-BE49-F238E27FC236}">
                <a16:creationId xmlns:a16="http://schemas.microsoft.com/office/drawing/2014/main" id="{87C4900B-F62E-4D27-A952-890999C19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26695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7" name="token-cell-32-21">
            <a:extLst xmlns:a="http://schemas.openxmlformats.org/drawingml/2006/main">
              <a:ext uri="{FF2B5EF4-FFF2-40B4-BE49-F238E27FC236}">
                <a16:creationId xmlns:a16="http://schemas.microsoft.com/office/drawing/2014/main" id="{AAEEEC45-1736-4C17-94D7-15E47075E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26695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8" name="token-cell-32-22">
            <a:extLst xmlns:a="http://schemas.openxmlformats.org/drawingml/2006/main">
              <a:ext uri="{FF2B5EF4-FFF2-40B4-BE49-F238E27FC236}">
                <a16:creationId xmlns:a16="http://schemas.microsoft.com/office/drawing/2014/main" id="{50EB479B-B64A-45DA-BC01-B880B362B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6695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9" name="token-cell-32-23">
            <a:extLst xmlns:a="http://schemas.openxmlformats.org/drawingml/2006/main">
              <a:ext uri="{FF2B5EF4-FFF2-40B4-BE49-F238E27FC236}">
                <a16:creationId xmlns:a16="http://schemas.microsoft.com/office/drawing/2014/main" id="{CD9B7528-BD2D-45CF-87F1-6752072B1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6695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0" name="token-cell-32-24">
            <a:extLst xmlns:a="http://schemas.openxmlformats.org/drawingml/2006/main">
              <a:ext uri="{FF2B5EF4-FFF2-40B4-BE49-F238E27FC236}">
                <a16:creationId xmlns:a16="http://schemas.microsoft.com/office/drawing/2014/main" id="{5CB96801-BADB-48D5-8A9E-A51CC0F3E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26695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1" name="token-cell-32-25">
            <a:extLst xmlns:a="http://schemas.openxmlformats.org/drawingml/2006/main">
              <a:ext uri="{FF2B5EF4-FFF2-40B4-BE49-F238E27FC236}">
                <a16:creationId xmlns:a16="http://schemas.microsoft.com/office/drawing/2014/main" id="{931A592E-51A4-4339-A4D3-2CE003F64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26695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2" name="token-cell-32-26">
            <a:extLst xmlns:a="http://schemas.openxmlformats.org/drawingml/2006/main">
              <a:ext uri="{FF2B5EF4-FFF2-40B4-BE49-F238E27FC236}">
                <a16:creationId xmlns:a16="http://schemas.microsoft.com/office/drawing/2014/main" id="{BFBE8E13-D1A1-4483-A7D4-7D6598578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26695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3" name="token-cell-32-27">
            <a:extLst xmlns:a="http://schemas.openxmlformats.org/drawingml/2006/main">
              <a:ext uri="{FF2B5EF4-FFF2-40B4-BE49-F238E27FC236}">
                <a16:creationId xmlns:a16="http://schemas.microsoft.com/office/drawing/2014/main" id="{3E5C7D25-9462-4D39-A948-355B1B9B3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26695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4" name="token-cell-32-28">
            <a:extLst xmlns:a="http://schemas.openxmlformats.org/drawingml/2006/main">
              <a:ext uri="{FF2B5EF4-FFF2-40B4-BE49-F238E27FC236}">
                <a16:creationId xmlns:a16="http://schemas.microsoft.com/office/drawing/2014/main" id="{1FDF3692-A3F8-4F1C-BFC7-601A12607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26695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5" name="token-cell-32-29">
            <a:extLst xmlns:a="http://schemas.openxmlformats.org/drawingml/2006/main">
              <a:ext uri="{FF2B5EF4-FFF2-40B4-BE49-F238E27FC236}">
                <a16:creationId xmlns:a16="http://schemas.microsoft.com/office/drawing/2014/main" id="{4A74C8E9-EECD-4B33-9C3E-803DAD1B8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26695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6" name="token-cell-32-30">
            <a:extLst xmlns:a="http://schemas.openxmlformats.org/drawingml/2006/main">
              <a:ext uri="{FF2B5EF4-FFF2-40B4-BE49-F238E27FC236}">
                <a16:creationId xmlns:a16="http://schemas.microsoft.com/office/drawing/2014/main" id="{02ABC676-E2F9-4E98-8B5D-48DEAAA19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26695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6CFB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7" name="token-cell-32-31">
            <a:extLst xmlns:a="http://schemas.openxmlformats.org/drawingml/2006/main">
              <a:ext uri="{FF2B5EF4-FFF2-40B4-BE49-F238E27FC236}">
                <a16:creationId xmlns:a16="http://schemas.microsoft.com/office/drawing/2014/main" id="{894F4FD1-A8AA-4735-9D31-8B9F184BF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26695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6CFB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AD989A0-4816-43BA-91AA-C9748EEF8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2266950"/>
            <a:ext cx="6096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8595A2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B6803EA-5FCB-49B6-BE6A-002F3D88E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2762250"/>
            <a:ext cx="9525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rPr>
              <a:t>已保留：前 8K 全量 INT2 与原精度 Sink（HBM）；Recent 原精度窗口与完整 SSM（HBF）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063DC7D-A296-4506-A752-1B14AAA85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105150"/>
            <a:ext cx="9525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buNone/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buNone/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buNone/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buNone/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buNone/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buNone/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buNone/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buNone/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buNone/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rPr>
              <a:t>续接：SSM 8K＋8K 末窗。精度补充：另读 6K 原精度历史窗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A0F2AD9-1FCE-4F06-9AA4-1CAFE769B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533775"/>
            <a:ext cx="1524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B8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581497A-22B4-491A-A2CB-373090FBB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533775"/>
            <a:ext cx="152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defPPr>
            <a:lvl1pPr algn="ctr">
              <a:buNone/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1pPr>
            <a:lvl2pPr algn="ctr">
              <a:buNone/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2pPr>
            <a:lvl3pPr algn="ctr">
              <a:buNone/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3pPr>
            <a:lvl4pPr algn="ctr">
              <a:buNone/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4pPr>
            <a:lvl5pPr algn="ctr">
              <a:buNone/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5pPr>
            <a:lvl6pPr algn="ctr">
              <a:buNone/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6pPr>
            <a:lvl7pPr algn="ctr">
              <a:buNone/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7pPr>
            <a:lvl8pPr algn="ctr">
              <a:buNone/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8pPr>
            <a:lvl9pPr algn="ctr">
              <a:buNone/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rPr>
              <a:t>SSM 8K</a:t>
            </a:r>
          </a:p>
        </p:txBody>
      </p:sp>
      <p:cxnSp>
        <p:nvCxn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F4904D5-F261-4FBB-B33C-75C47EAD207D}"/>
              </a:ext>
            </a:extLst>
          </p:cNvPr>
          <p:cNvCxnSpPr/>
          <p:nvPr/>
        </p:nvCxnSpPr>
        <p:spPr>
          <a:xfrm xmlns:a="http://schemas.openxmlformats.org/drawingml/2006/main">
            <a:off x="3886200" y="3733800"/>
            <a:ext cx="21431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76394"/>
            </a:solidFill>
            <a:prstDash val="solid"/>
            <a:tailEnd type="triangle" w="sm" len="sm"/>
          </a:ln>
        </p:spPr>
      </p:cxn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5FCB27C-D124-4ACE-840F-EF5E5BDBC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457575"/>
            <a:ext cx="2143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defPPr>
            <a:lvl1pPr algn="ctr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1pPr>
            <a:lvl2pPr algn="ctr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2pPr>
            <a:lvl3pPr algn="ctr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3pPr>
            <a:lvl4pPr algn="ctr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4pPr>
            <a:lvl5pPr algn="ctr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5pPr>
            <a:lvl6pPr algn="ctr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6pPr>
            <a:lvl7pPr algn="ctr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7pPr>
            <a:lvl8pPr algn="ctr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8pPr>
            <a:lvl9pPr algn="ctr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ctr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rPr>
              <a:t>计算新增 4K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6A78565-09B6-46BE-A1BA-556C12EDE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33775"/>
            <a:ext cx="1657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B8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7A610BA-AF8C-48FB-9A27-7A3266422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33775"/>
            <a:ext cx="1657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defPPr>
            <a:lvl1pPr algn="ctr">
              <a:buNone/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1pPr>
            <a:lvl2pPr algn="ctr">
              <a:buNone/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2pPr>
            <a:lvl3pPr algn="ctr">
              <a:buNone/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3pPr>
            <a:lvl4pPr algn="ctr">
              <a:buNone/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4pPr>
            <a:lvl5pPr algn="ctr">
              <a:buNone/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5pPr>
            <a:lvl6pPr algn="ctr">
              <a:buNone/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6pPr>
            <a:lvl7pPr algn="ctr">
              <a:buNone/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7pPr>
            <a:lvl8pPr algn="ctr">
              <a:buNone/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8pPr>
            <a:lvl9pPr algn="ctr">
              <a:buNone/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rPr>
              <a:t>SSM 12K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0855AEA-D98E-42BB-AEAD-CE9E9AC5D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571875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rPr>
              <a:t>SSM 随计算更新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15D5A3D-9FCF-4378-9CAF-E3A73D49C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48175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buNone/>
              <a:defRPr sz="18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buNone/>
              <a:defRPr sz="18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buNone/>
              <a:defRPr sz="18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buNone/>
              <a:defRPr sz="18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buNone/>
              <a:defRPr sz="18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buNone/>
              <a:defRPr sz="18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buNone/>
              <a:defRPr sz="18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buNone/>
              <a:defRPr sz="18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buNone/>
              <a:defRPr sz="18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rPr>
              <a:t>第二轮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ED4013C-2FFF-42CD-9005-2AD71BE13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52975"/>
            <a:ext cx="1571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buNone/>
              <a:defRPr sz="150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buNone/>
              <a:defRPr sz="150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buNone/>
              <a:defRPr sz="150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buNone/>
              <a:defRPr sz="150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buNone/>
              <a:defRPr sz="150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buNone/>
              <a:defRPr sz="150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buNone/>
              <a:defRPr sz="150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buNone/>
              <a:defRPr sz="150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buNone/>
              <a:defRPr sz="150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rPr>
              <a:t>新增 4K 已处理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99A7665-48A4-44C8-8CD9-C39D3DB0D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029075"/>
            <a:ext cx="2133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350" b="1">
                <a:solidFill>
                  <a:srgbClr val="42846C"/>
                </a:solidFill>
                <a:latin typeface="Hiragino Sans GB"/>
                <a:ea typeface="Hiragino Sans GB"/>
                <a:cs typeface="Hiragino Sans GB"/>
              </a:defRPr>
            </a:defPPr>
            <a:lvl1pPr algn="ctr">
              <a:buNone/>
              <a:defRPr sz="1350" b="1">
                <a:solidFill>
                  <a:srgbClr val="42846C"/>
                </a:solidFill>
                <a:latin typeface="Hiragino Sans GB"/>
                <a:ea typeface="Hiragino Sans GB"/>
                <a:cs typeface="Hiragino Sans GB"/>
              </a:defRPr>
            </a:lvl1pPr>
            <a:lvl2pPr algn="ctr">
              <a:buNone/>
              <a:defRPr sz="1350" b="1">
                <a:solidFill>
                  <a:srgbClr val="42846C"/>
                </a:solidFill>
                <a:latin typeface="Hiragino Sans GB"/>
                <a:ea typeface="Hiragino Sans GB"/>
                <a:cs typeface="Hiragino Sans GB"/>
              </a:defRPr>
            </a:lvl2pPr>
            <a:lvl3pPr algn="ctr">
              <a:buNone/>
              <a:defRPr sz="1350" b="1">
                <a:solidFill>
                  <a:srgbClr val="42846C"/>
                </a:solidFill>
                <a:latin typeface="Hiragino Sans GB"/>
                <a:ea typeface="Hiragino Sans GB"/>
                <a:cs typeface="Hiragino Sans GB"/>
              </a:defRPr>
            </a:lvl3pPr>
            <a:lvl4pPr algn="ctr">
              <a:buNone/>
              <a:defRPr sz="1350" b="1">
                <a:solidFill>
                  <a:srgbClr val="42846C"/>
                </a:solidFill>
                <a:latin typeface="Hiragino Sans GB"/>
                <a:ea typeface="Hiragino Sans GB"/>
                <a:cs typeface="Hiragino Sans GB"/>
              </a:defRPr>
            </a:lvl4pPr>
            <a:lvl5pPr algn="ctr">
              <a:buNone/>
              <a:defRPr sz="1350" b="1">
                <a:solidFill>
                  <a:srgbClr val="42846C"/>
                </a:solidFill>
                <a:latin typeface="Hiragino Sans GB"/>
                <a:ea typeface="Hiragino Sans GB"/>
                <a:cs typeface="Hiragino Sans GB"/>
              </a:defRPr>
            </a:lvl5pPr>
            <a:lvl6pPr algn="ctr">
              <a:buNone/>
              <a:defRPr sz="1350" b="1">
                <a:solidFill>
                  <a:srgbClr val="42846C"/>
                </a:solidFill>
                <a:latin typeface="Hiragino Sans GB"/>
                <a:ea typeface="Hiragino Sans GB"/>
                <a:cs typeface="Hiragino Sans GB"/>
              </a:defRPr>
            </a:lvl6pPr>
            <a:lvl7pPr algn="ctr">
              <a:buNone/>
              <a:defRPr sz="1350" b="1">
                <a:solidFill>
                  <a:srgbClr val="42846C"/>
                </a:solidFill>
                <a:latin typeface="Hiragino Sans GB"/>
                <a:ea typeface="Hiragino Sans GB"/>
                <a:cs typeface="Hiragino Sans GB"/>
              </a:defRPr>
            </a:lvl7pPr>
            <a:lvl8pPr algn="ctr">
              <a:buNone/>
              <a:defRPr sz="1350" b="1">
                <a:solidFill>
                  <a:srgbClr val="42846C"/>
                </a:solidFill>
                <a:latin typeface="Hiragino Sans GB"/>
                <a:ea typeface="Hiragino Sans GB"/>
                <a:cs typeface="Hiragino Sans GB"/>
              </a:defRPr>
            </a:lvl8pPr>
            <a:lvl9pPr algn="ctr">
              <a:buNone/>
              <a:defRPr sz="1350" b="1">
                <a:solidFill>
                  <a:srgbClr val="42846C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ctr">
              <a:buNone/>
              <a:defRPr sz="1350" b="1">
                <a:solidFill>
                  <a:srgbClr val="42846C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1">
                <a:solidFill>
                  <a:srgbClr val="42846C"/>
                </a:solidFill>
                <a:latin typeface="Hiragino Sans GB"/>
                <a:ea typeface="Hiragino Sans GB"/>
                <a:cs typeface="Hiragino Sans GB"/>
              </a:rPr>
              <a:t>原精度历史窗口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42846C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1">
                <a:solidFill>
                  <a:srgbClr val="42846C"/>
                </a:solidFill>
                <a:latin typeface="Hiragino Sans GB"/>
                <a:ea typeface="Hiragino Sans GB"/>
                <a:cs typeface="Hiragino Sans GB"/>
              </a:rPr>
              <a:t>5.5K～6K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738294F-6CA1-437F-90C2-DF05D7BBC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29125"/>
            <a:ext cx="0" cy="95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42846C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DFFC27A-690E-4E76-9A60-C28189B13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238625"/>
            <a:ext cx="666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rPr>
              <a:t>8K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85D9E09-F466-4C4F-83C7-DF02294E1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4238625"/>
            <a:ext cx="742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defPPr>
            <a:lvl1pPr algn="r">
              <a:buNone/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1pPr>
            <a:lvl2pPr algn="r">
              <a:buNone/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2pPr>
            <a:lvl3pPr algn="r">
              <a:buNone/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3pPr>
            <a:lvl4pPr algn="r">
              <a:buNone/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4pPr>
            <a:lvl5pPr algn="r">
              <a:buNone/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5pPr>
            <a:lvl6pPr algn="r">
              <a:buNone/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6pPr>
            <a:lvl7pPr algn="r">
              <a:buNone/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7pPr>
            <a:lvl8pPr algn="r">
              <a:buNone/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8pPr>
            <a:lvl9pPr algn="r">
              <a:buNone/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r">
              <a:buNone/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rPr>
              <a:t>12K</a:t>
            </a:r>
          </a:p>
        </p:txBody>
      </p:sp>
      <p:sp>
        <p:nvSpPr>
          <p:cNvPr id="64" name="token-cell-48-0">
            <a:extLst xmlns:a="http://schemas.openxmlformats.org/drawingml/2006/main">
              <a:ext uri="{FF2B5EF4-FFF2-40B4-BE49-F238E27FC236}">
                <a16:creationId xmlns:a16="http://schemas.microsoft.com/office/drawing/2014/main" id="{C685027E-5AF8-43A9-B78F-9284E05B5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3390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BC48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5" name="token-cell-48-1">
            <a:extLst xmlns:a="http://schemas.openxmlformats.org/drawingml/2006/main">
              <a:ext uri="{FF2B5EF4-FFF2-40B4-BE49-F238E27FC236}">
                <a16:creationId xmlns:a16="http://schemas.microsoft.com/office/drawing/2014/main" id="{55876629-33D7-4B1E-BB2F-BE052FE2B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53390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6" name="token-cell-48-2">
            <a:extLst xmlns:a="http://schemas.openxmlformats.org/drawingml/2006/main">
              <a:ext uri="{FF2B5EF4-FFF2-40B4-BE49-F238E27FC236}">
                <a16:creationId xmlns:a16="http://schemas.microsoft.com/office/drawing/2014/main" id="{65D6F983-750C-4E7A-8733-EE5D7B993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53390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7" name="token-cell-48-3">
            <a:extLst xmlns:a="http://schemas.openxmlformats.org/drawingml/2006/main">
              <a:ext uri="{FF2B5EF4-FFF2-40B4-BE49-F238E27FC236}">
                <a16:creationId xmlns:a16="http://schemas.microsoft.com/office/drawing/2014/main" id="{7E54EC68-6003-4704-AA83-5B7908EDB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53390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8" name="token-cell-48-4">
            <a:extLst xmlns:a="http://schemas.openxmlformats.org/drawingml/2006/main">
              <a:ext uri="{FF2B5EF4-FFF2-40B4-BE49-F238E27FC236}">
                <a16:creationId xmlns:a16="http://schemas.microsoft.com/office/drawing/2014/main" id="{8BBF449E-1486-4678-A16F-6BE032D53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453390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9" name="token-cell-48-5">
            <a:extLst xmlns:a="http://schemas.openxmlformats.org/drawingml/2006/main">
              <a:ext uri="{FF2B5EF4-FFF2-40B4-BE49-F238E27FC236}">
                <a16:creationId xmlns:a16="http://schemas.microsoft.com/office/drawing/2014/main" id="{5FE41DE6-3067-4900-8B16-B7646077F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53390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0" name="token-cell-48-6">
            <a:extLst xmlns:a="http://schemas.openxmlformats.org/drawingml/2006/main">
              <a:ext uri="{FF2B5EF4-FFF2-40B4-BE49-F238E27FC236}">
                <a16:creationId xmlns:a16="http://schemas.microsoft.com/office/drawing/2014/main" id="{A3C6A6FD-0787-4053-A8C6-4E6DB9FD2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53390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1" name="token-cell-48-7">
            <a:extLst xmlns:a="http://schemas.openxmlformats.org/drawingml/2006/main">
              <a:ext uri="{FF2B5EF4-FFF2-40B4-BE49-F238E27FC236}">
                <a16:creationId xmlns:a16="http://schemas.microsoft.com/office/drawing/2014/main" id="{2E37A9C2-38F6-4A16-954F-365D10E04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53390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2" name="token-cell-48-8">
            <a:extLst xmlns:a="http://schemas.openxmlformats.org/drawingml/2006/main">
              <a:ext uri="{FF2B5EF4-FFF2-40B4-BE49-F238E27FC236}">
                <a16:creationId xmlns:a16="http://schemas.microsoft.com/office/drawing/2014/main" id="{D9A0E37F-6731-4872-BBC1-8D38E84DC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53390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3" name="token-cell-48-9">
            <a:extLst xmlns:a="http://schemas.openxmlformats.org/drawingml/2006/main">
              <a:ext uri="{FF2B5EF4-FFF2-40B4-BE49-F238E27FC236}">
                <a16:creationId xmlns:a16="http://schemas.microsoft.com/office/drawing/2014/main" id="{64B680A2-C28A-42AD-961C-F93C35224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53390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4" name="token-cell-48-10">
            <a:extLst xmlns:a="http://schemas.openxmlformats.org/drawingml/2006/main">
              <a:ext uri="{FF2B5EF4-FFF2-40B4-BE49-F238E27FC236}">
                <a16:creationId xmlns:a16="http://schemas.microsoft.com/office/drawing/2014/main" id="{97E41FE7-03A9-4153-9827-52DF51E09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53390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5" name="token-cell-48-11">
            <a:extLst xmlns:a="http://schemas.openxmlformats.org/drawingml/2006/main">
              <a:ext uri="{FF2B5EF4-FFF2-40B4-BE49-F238E27FC236}">
                <a16:creationId xmlns:a16="http://schemas.microsoft.com/office/drawing/2014/main" id="{F2B449E6-4124-4171-A3DB-374AC208B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53390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6" name="token-cell-48-12">
            <a:extLst xmlns:a="http://schemas.openxmlformats.org/drawingml/2006/main">
              <a:ext uri="{FF2B5EF4-FFF2-40B4-BE49-F238E27FC236}">
                <a16:creationId xmlns:a16="http://schemas.microsoft.com/office/drawing/2014/main" id="{5D54A0A8-0E81-4FE9-8DB4-703C4EEE5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53390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7" name="token-cell-48-13">
            <a:extLst xmlns:a="http://schemas.openxmlformats.org/drawingml/2006/main">
              <a:ext uri="{FF2B5EF4-FFF2-40B4-BE49-F238E27FC236}">
                <a16:creationId xmlns:a16="http://schemas.microsoft.com/office/drawing/2014/main" id="{87CCADCA-35F7-470D-88E5-55D061CA6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53390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8" name="token-cell-48-14">
            <a:extLst xmlns:a="http://schemas.openxmlformats.org/drawingml/2006/main">
              <a:ext uri="{FF2B5EF4-FFF2-40B4-BE49-F238E27FC236}">
                <a16:creationId xmlns:a16="http://schemas.microsoft.com/office/drawing/2014/main" id="{21EF0E88-086C-43BA-A5EB-6FB023A7A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453390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9" name="token-cell-48-15">
            <a:extLst xmlns:a="http://schemas.openxmlformats.org/drawingml/2006/main">
              <a:ext uri="{FF2B5EF4-FFF2-40B4-BE49-F238E27FC236}">
                <a16:creationId xmlns:a16="http://schemas.microsoft.com/office/drawing/2014/main" id="{D77E5EC3-6DAF-4044-8F5B-96C18EB0E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53390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0" name="token-cell-48-16">
            <a:extLst xmlns:a="http://schemas.openxmlformats.org/drawingml/2006/main">
              <a:ext uri="{FF2B5EF4-FFF2-40B4-BE49-F238E27FC236}">
                <a16:creationId xmlns:a16="http://schemas.microsoft.com/office/drawing/2014/main" id="{51BBA8DA-31A6-476B-857D-045248E9F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53390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1" name="token-cell-48-17">
            <a:extLst xmlns:a="http://schemas.openxmlformats.org/drawingml/2006/main">
              <a:ext uri="{FF2B5EF4-FFF2-40B4-BE49-F238E27FC236}">
                <a16:creationId xmlns:a16="http://schemas.microsoft.com/office/drawing/2014/main" id="{E1497EE6-79CB-47E3-8003-919D9346B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453390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2" name="token-cell-48-18">
            <a:extLst xmlns:a="http://schemas.openxmlformats.org/drawingml/2006/main">
              <a:ext uri="{FF2B5EF4-FFF2-40B4-BE49-F238E27FC236}">
                <a16:creationId xmlns:a16="http://schemas.microsoft.com/office/drawing/2014/main" id="{C262CA57-51A2-4BEC-BA87-F62D9C74F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53390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3" name="token-cell-48-19">
            <a:extLst xmlns:a="http://schemas.openxmlformats.org/drawingml/2006/main">
              <a:ext uri="{FF2B5EF4-FFF2-40B4-BE49-F238E27FC236}">
                <a16:creationId xmlns:a16="http://schemas.microsoft.com/office/drawing/2014/main" id="{10A932D1-8BC4-4685-A53C-C6878AA41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53390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4" name="token-cell-48-20">
            <a:extLst xmlns:a="http://schemas.openxmlformats.org/drawingml/2006/main">
              <a:ext uri="{FF2B5EF4-FFF2-40B4-BE49-F238E27FC236}">
                <a16:creationId xmlns:a16="http://schemas.microsoft.com/office/drawing/2014/main" id="{470DE594-FA79-491B-93E9-9CB87ACED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53390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5" name="token-cell-48-21">
            <a:extLst xmlns:a="http://schemas.openxmlformats.org/drawingml/2006/main">
              <a:ext uri="{FF2B5EF4-FFF2-40B4-BE49-F238E27FC236}">
                <a16:creationId xmlns:a16="http://schemas.microsoft.com/office/drawing/2014/main" id="{F658CAA2-701E-49F2-B55E-3A66BCE98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53390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6" name="token-cell-48-22">
            <a:extLst xmlns:a="http://schemas.openxmlformats.org/drawingml/2006/main">
              <a:ext uri="{FF2B5EF4-FFF2-40B4-BE49-F238E27FC236}">
                <a16:creationId xmlns:a16="http://schemas.microsoft.com/office/drawing/2014/main" id="{532C2309-0928-4B9E-907D-D16CEA732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53390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46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7" name="token-cell-48-23">
            <a:extLst xmlns:a="http://schemas.openxmlformats.org/drawingml/2006/main">
              <a:ext uri="{FF2B5EF4-FFF2-40B4-BE49-F238E27FC236}">
                <a16:creationId xmlns:a16="http://schemas.microsoft.com/office/drawing/2014/main" id="{CF275E52-9072-445E-AB86-9BAA6396C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53390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46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8" name="token-cell-48-24">
            <a:extLst xmlns:a="http://schemas.openxmlformats.org/drawingml/2006/main">
              <a:ext uri="{FF2B5EF4-FFF2-40B4-BE49-F238E27FC236}">
                <a16:creationId xmlns:a16="http://schemas.microsoft.com/office/drawing/2014/main" id="{3325FFB4-9C2F-4FE0-8028-42FD8546A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53390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9" name="token-cell-48-25">
            <a:extLst xmlns:a="http://schemas.openxmlformats.org/drawingml/2006/main">
              <a:ext uri="{FF2B5EF4-FFF2-40B4-BE49-F238E27FC236}">
                <a16:creationId xmlns:a16="http://schemas.microsoft.com/office/drawing/2014/main" id="{AEE3FDCC-9144-49F5-987C-E41B32926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53390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0" name="token-cell-48-26">
            <a:extLst xmlns:a="http://schemas.openxmlformats.org/drawingml/2006/main">
              <a:ext uri="{FF2B5EF4-FFF2-40B4-BE49-F238E27FC236}">
                <a16:creationId xmlns:a16="http://schemas.microsoft.com/office/drawing/2014/main" id="{11533679-B9FE-42E3-B2FD-E31AC101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53390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1" name="token-cell-48-27">
            <a:extLst xmlns:a="http://schemas.openxmlformats.org/drawingml/2006/main">
              <a:ext uri="{FF2B5EF4-FFF2-40B4-BE49-F238E27FC236}">
                <a16:creationId xmlns:a16="http://schemas.microsoft.com/office/drawing/2014/main" id="{4E1D4494-2BAD-4260-9DE6-E3C11C558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53390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2" name="token-cell-48-28">
            <a:extLst xmlns:a="http://schemas.openxmlformats.org/drawingml/2006/main">
              <a:ext uri="{FF2B5EF4-FFF2-40B4-BE49-F238E27FC236}">
                <a16:creationId xmlns:a16="http://schemas.microsoft.com/office/drawing/2014/main" id="{6B184D7C-7198-4658-93A0-2E9648D57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53390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3" name="token-cell-48-29">
            <a:extLst xmlns:a="http://schemas.openxmlformats.org/drawingml/2006/main">
              <a:ext uri="{FF2B5EF4-FFF2-40B4-BE49-F238E27FC236}">
                <a16:creationId xmlns:a16="http://schemas.microsoft.com/office/drawing/2014/main" id="{109886BC-0200-4D7E-9E7C-A1F2EBD0B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53390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4" name="token-cell-48-30">
            <a:extLst xmlns:a="http://schemas.openxmlformats.org/drawingml/2006/main">
              <a:ext uri="{FF2B5EF4-FFF2-40B4-BE49-F238E27FC236}">
                <a16:creationId xmlns:a16="http://schemas.microsoft.com/office/drawing/2014/main" id="{03330AF1-BD8C-42DD-8C97-2F901084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53390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5" name="token-cell-48-31">
            <a:extLst xmlns:a="http://schemas.openxmlformats.org/drawingml/2006/main">
              <a:ext uri="{FF2B5EF4-FFF2-40B4-BE49-F238E27FC236}">
                <a16:creationId xmlns:a16="http://schemas.microsoft.com/office/drawing/2014/main" id="{8B2EBB58-C666-4445-A1CA-7F135B614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53390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6" name="token-cell-48-32">
            <a:extLst xmlns:a="http://schemas.openxmlformats.org/drawingml/2006/main">
              <a:ext uri="{FF2B5EF4-FFF2-40B4-BE49-F238E27FC236}">
                <a16:creationId xmlns:a16="http://schemas.microsoft.com/office/drawing/2014/main" id="{D08FFBF4-B28B-48ED-A416-9AA0E1E45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53390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7" name="token-cell-48-33">
            <a:extLst xmlns:a="http://schemas.openxmlformats.org/drawingml/2006/main">
              <a:ext uri="{FF2B5EF4-FFF2-40B4-BE49-F238E27FC236}">
                <a16:creationId xmlns:a16="http://schemas.microsoft.com/office/drawing/2014/main" id="{CFB550C0-6440-4E9D-A322-E8F7ABFFC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53390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8" name="token-cell-48-34">
            <a:extLst xmlns:a="http://schemas.openxmlformats.org/drawingml/2006/main">
              <a:ext uri="{FF2B5EF4-FFF2-40B4-BE49-F238E27FC236}">
                <a16:creationId xmlns:a16="http://schemas.microsoft.com/office/drawing/2014/main" id="{C62B78E3-F74C-4999-95FD-A00FCBAE6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53390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9" name="token-cell-48-35">
            <a:extLst xmlns:a="http://schemas.openxmlformats.org/drawingml/2006/main">
              <a:ext uri="{FF2B5EF4-FFF2-40B4-BE49-F238E27FC236}">
                <a16:creationId xmlns:a16="http://schemas.microsoft.com/office/drawing/2014/main" id="{A7B28285-686C-4E2A-9882-9BE2ED81D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53390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0" name="token-cell-48-36">
            <a:extLst xmlns:a="http://schemas.openxmlformats.org/drawingml/2006/main">
              <a:ext uri="{FF2B5EF4-FFF2-40B4-BE49-F238E27FC236}">
                <a16:creationId xmlns:a16="http://schemas.microsoft.com/office/drawing/2014/main" id="{A5B460DD-575B-4A7D-B6D5-3248A0621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53390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1" name="token-cell-48-37">
            <a:extLst xmlns:a="http://schemas.openxmlformats.org/drawingml/2006/main">
              <a:ext uri="{FF2B5EF4-FFF2-40B4-BE49-F238E27FC236}">
                <a16:creationId xmlns:a16="http://schemas.microsoft.com/office/drawing/2014/main" id="{3A41D180-C27D-4970-9601-6F120B3A6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53390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2" name="token-cell-48-38">
            <a:extLst xmlns:a="http://schemas.openxmlformats.org/drawingml/2006/main">
              <a:ext uri="{FF2B5EF4-FFF2-40B4-BE49-F238E27FC236}">
                <a16:creationId xmlns:a16="http://schemas.microsoft.com/office/drawing/2014/main" id="{A9BCBE4A-6AFF-4DD0-9310-FCEEF98AA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53390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3" name="token-cell-48-39">
            <a:extLst xmlns:a="http://schemas.openxmlformats.org/drawingml/2006/main">
              <a:ext uri="{FF2B5EF4-FFF2-40B4-BE49-F238E27FC236}">
                <a16:creationId xmlns:a16="http://schemas.microsoft.com/office/drawing/2014/main" id="{73C72EC9-4441-4177-9AD8-441E54CC9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53390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4" name="token-cell-48-40">
            <a:extLst xmlns:a="http://schemas.openxmlformats.org/drawingml/2006/main">
              <a:ext uri="{FF2B5EF4-FFF2-40B4-BE49-F238E27FC236}">
                <a16:creationId xmlns:a16="http://schemas.microsoft.com/office/drawing/2014/main" id="{0BC4AB56-BA3A-4CA7-984C-28D2E414A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453390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5" name="token-cell-48-41">
            <a:extLst xmlns:a="http://schemas.openxmlformats.org/drawingml/2006/main">
              <a:ext uri="{FF2B5EF4-FFF2-40B4-BE49-F238E27FC236}">
                <a16:creationId xmlns:a16="http://schemas.microsoft.com/office/drawing/2014/main" id="{1B2D10EE-BDE2-476B-AC9E-98D41225F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53390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6" name="token-cell-48-42">
            <a:extLst xmlns:a="http://schemas.openxmlformats.org/drawingml/2006/main">
              <a:ext uri="{FF2B5EF4-FFF2-40B4-BE49-F238E27FC236}">
                <a16:creationId xmlns:a16="http://schemas.microsoft.com/office/drawing/2014/main" id="{3474A62F-4D86-4FB7-ABC1-438500A12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453390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7" name="token-cell-48-43">
            <a:extLst xmlns:a="http://schemas.openxmlformats.org/drawingml/2006/main">
              <a:ext uri="{FF2B5EF4-FFF2-40B4-BE49-F238E27FC236}">
                <a16:creationId xmlns:a16="http://schemas.microsoft.com/office/drawing/2014/main" id="{8B51E59D-E638-499B-9373-A36746CE8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453390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8" name="token-cell-48-44">
            <a:extLst xmlns:a="http://schemas.openxmlformats.org/drawingml/2006/main">
              <a:ext uri="{FF2B5EF4-FFF2-40B4-BE49-F238E27FC236}">
                <a16:creationId xmlns:a16="http://schemas.microsoft.com/office/drawing/2014/main" id="{7F7BC112-356A-4B2C-8F3D-0E251349C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453390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9" name="token-cell-48-45">
            <a:extLst xmlns:a="http://schemas.openxmlformats.org/drawingml/2006/main">
              <a:ext uri="{FF2B5EF4-FFF2-40B4-BE49-F238E27FC236}">
                <a16:creationId xmlns:a16="http://schemas.microsoft.com/office/drawing/2014/main" id="{7B3DB0FC-51B2-4164-85F9-B16974684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453390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0" name="token-cell-48-46">
            <a:extLst xmlns:a="http://schemas.openxmlformats.org/drawingml/2006/main">
              <a:ext uri="{FF2B5EF4-FFF2-40B4-BE49-F238E27FC236}">
                <a16:creationId xmlns:a16="http://schemas.microsoft.com/office/drawing/2014/main" id="{1339D9C4-55E6-4E66-BFA0-026452F16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53390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6CFB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1" name="token-cell-48-47">
            <a:extLst xmlns:a="http://schemas.openxmlformats.org/drawingml/2006/main">
              <a:ext uri="{FF2B5EF4-FFF2-40B4-BE49-F238E27FC236}">
                <a16:creationId xmlns:a16="http://schemas.microsoft.com/office/drawing/2014/main" id="{57D37228-CB16-4670-A2F4-97D5E6E47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4533900"/>
            <a:ext cx="190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6CFB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C5DD2CE2-1722-455A-AF79-AD8905B1A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33900"/>
            <a:ext cx="9144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8595A2"/>
            </a:solidFill>
            <a:prstDash val="solid"/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465B64A0-3D59-48B5-A930-73B834622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057775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3DB"/>
            </a:solidFill>
            <a:prstDash val="solid"/>
          </a:ln>
        </p:spPr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FAA7A48A-AF0E-427C-B873-35CDFF2EA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991100"/>
            <a:ext cx="0" cy="666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3DB"/>
            </a:solidFill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E2F68AF0-8A4B-408D-AAB9-24E63209E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991100"/>
            <a:ext cx="0" cy="666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3DB"/>
            </a:solidFill>
            <a:prstDash val="solid"/>
          </a:ln>
        </p:spPr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79B7A610-1700-4775-BEE2-26B1A544D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095875"/>
            <a:ext cx="6096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defPPr>
            <a:lvl1pPr algn="ctr">
              <a:buNone/>
              <a:defRPr sz="15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1pPr>
            <a:lvl2pPr algn="ctr">
              <a:buNone/>
              <a:defRPr sz="15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2pPr>
            <a:lvl3pPr algn="ctr">
              <a:buNone/>
              <a:defRPr sz="15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3pPr>
            <a:lvl4pPr algn="ctr">
              <a:buNone/>
              <a:defRPr sz="15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4pPr>
            <a:lvl5pPr algn="ctr">
              <a:buNone/>
              <a:defRPr sz="15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5pPr>
            <a:lvl6pPr algn="ctr">
              <a:buNone/>
              <a:defRPr sz="15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6pPr>
            <a:lvl7pPr algn="ctr">
              <a:buNone/>
              <a:defRPr sz="15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7pPr>
            <a:lvl8pPr algn="ctr">
              <a:buNone/>
              <a:defRPr sz="15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8pPr>
            <a:lvl9pPr algn="ctr">
              <a:buNone/>
              <a:defRPr sz="15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ctr">
              <a:buNone/>
              <a:defRPr sz="15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rPr>
              <a:t>复用前 8K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74AED5F1-A1FC-46DA-9641-FE6F8C7A9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057775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3DB"/>
            </a:solidFill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A791D56E-1850-4C7B-AFE2-A072B7F7A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991100"/>
            <a:ext cx="0" cy="666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3DB"/>
            </a:solidFill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43017CD2-35A2-435D-ABC8-7181E8495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4991100"/>
            <a:ext cx="0" cy="666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3DB"/>
            </a:solidFill>
            <a:prstDash val="solid"/>
          </a:ln>
        </p:spPr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2069C18C-5552-4B5D-B789-0FF2020B2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095875"/>
            <a:ext cx="304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defPPr>
            <a:lvl1pPr algn="ctr">
              <a:buNone/>
              <a:defRPr sz="15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1pPr>
            <a:lvl2pPr algn="ctr">
              <a:buNone/>
              <a:defRPr sz="15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2pPr>
            <a:lvl3pPr algn="ctr">
              <a:buNone/>
              <a:defRPr sz="15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3pPr>
            <a:lvl4pPr algn="ctr">
              <a:buNone/>
              <a:defRPr sz="15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4pPr>
            <a:lvl5pPr algn="ctr">
              <a:buNone/>
              <a:defRPr sz="15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5pPr>
            <a:lvl6pPr algn="ctr">
              <a:buNone/>
              <a:defRPr sz="15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6pPr>
            <a:lvl7pPr algn="ctr">
              <a:buNone/>
              <a:defRPr sz="15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7pPr>
            <a:lvl8pPr algn="ctr">
              <a:buNone/>
              <a:defRPr sz="15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8pPr>
            <a:lvl9pPr algn="ctr">
              <a:buNone/>
              <a:defRPr sz="15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ctr">
              <a:buNone/>
              <a:defRPr sz="15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rPr>
              <a:t>新处理 4K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0B9F9BD1-0423-4110-ACEA-F3F0D24AA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67350"/>
            <a:ext cx="11163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buNone/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buNone/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buNone/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buNone/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buNone/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buNone/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buNone/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buNone/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buNone/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rPr>
              <a:t>6K 窗口替代同区间 INT2 读取，不恢复 SSM 6K。尾部 Recent 为 11.5K～12K。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BDA033FC-1D8B-4457-9EDE-F6C84B908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13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buNone/>
              <a:defRPr sz="1313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buNone/>
              <a:defRPr sz="1313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buNone/>
              <a:defRPr sz="1313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buNone/>
              <a:defRPr sz="1313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buNone/>
              <a:defRPr sz="1313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buNone/>
              <a:defRPr sz="1313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buNone/>
              <a:defRPr sz="1313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buNone/>
              <a:defRPr sz="1313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buNone/>
              <a:defRPr sz="1313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l">
              <a:buNone/>
              <a:defRPr sz="1313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13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rPr>
              <a:t>示意：n = 2K，原精度为 BF16，W = 512 token，每格 256 token。任务精度效果待验证。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7AA8DE18-72B6-4C1B-B2C5-56C2207F5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24575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3DB"/>
            </a:solidFill>
            <a:prstDash val="solid"/>
          </a:ln>
        </p:spPr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A4C671E5-E7FA-484B-9877-5C31E3B78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19825"/>
            <a:ext cx="11163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buNone/>
              <a:defRPr sz="172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buNone/>
              <a:defRPr sz="172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buNone/>
              <a:defRPr sz="172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buNone/>
              <a:defRPr sz="172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buNone/>
              <a:defRPr sz="172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buNone/>
              <a:defRPr sz="172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buNone/>
              <a:defRPr sz="172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buNone/>
              <a:defRPr sz="172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buNone/>
              <a:defRPr sz="172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rPr>
              <a:t>技术手段：检查点恢复与原精度窗口复用；布局及控制装置见第 2 页。</a:t>
            </a:r>
          </a:p>
        </p:txBody>
      </p:sp>
    </p:spTree>
    <p:extLst>
      <p:ext uri="{BB962C8B-B14F-4D97-AF65-F5344CB8AC3E}">
        <p14:creationId xmlns:p14="http://schemas.microsoft.com/office/powerpoint/2010/main" val="1547205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2A450FA9-78C3-4142-AA96-08D9241E5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7175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30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30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30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30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30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30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30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30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30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0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rPr>
              <a:t>本发明技术方案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E2086F-D383-4A78-BD45-8FDB32BAE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371475"/>
            <a:ext cx="819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7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defPPr>
            <a:lvl1pPr algn="r">
              <a:defRPr sz="127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1pPr>
            <a:lvl2pPr algn="r">
              <a:defRPr sz="127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2pPr>
            <a:lvl3pPr algn="r">
              <a:defRPr sz="127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3pPr>
            <a:lvl4pPr algn="r">
              <a:defRPr sz="127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4pPr>
            <a:lvl5pPr algn="r">
              <a:defRPr sz="127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5pPr>
            <a:lvl6pPr algn="r">
              <a:defRPr sz="127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6pPr>
            <a:lvl7pPr algn="r">
              <a:defRPr sz="127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7pPr>
            <a:lvl8pPr algn="r">
              <a:defRPr sz="127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8pPr>
            <a:lvl9pPr algn="r">
              <a:defRPr sz="127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r">
              <a:defRPr sz="127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7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rPr>
              <a:t>2 /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DB76E1-6AAB-4532-B76E-5625CE169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52500"/>
            <a:ext cx="11163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725" b="0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725" b="0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725" b="0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725" b="0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725" b="0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725" b="0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725" b="0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725" b="0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725" b="0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rPr>
              <a:t>FULL 历史由 BF16 改为 INT2＋原精度窗口，GDN 的 Conv／SSM 保持原生布局。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170E92-CA58-4716-913E-F15A489D2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57325"/>
            <a:ext cx="11163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202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202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202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202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202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202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202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202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202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rPr>
              <a:t>现状：原生 BF16 KV ＋ 二级缓存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94B523-A373-4A40-A9AF-EC47772AC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57375"/>
            <a:ext cx="5505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rPr>
              <a:t>HBM：共享缓存池的两种层视图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AFF298-DA9E-44A4-8664-6413F1A31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57375"/>
            <a:ext cx="3390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rPr>
              <a:t>二级缓存：按层类型保存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BA2C0C-A849-4480-A3FB-9D3628DB7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28850"/>
            <a:ext cx="571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rPr>
              <a:t>FULL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D753FE-51D5-496E-85F9-5BC8E506B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33675"/>
            <a:ext cx="571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rPr>
              <a:t>GDN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3CBF2A-DAB3-4698-982B-18013AED6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28850"/>
            <a:ext cx="11430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C9D3D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6D7235-6994-4838-815F-81D37D91A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47900"/>
            <a:ext cx="1066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defPPr>
            <a:lvl1pPr algn="ctr"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1pPr>
            <a:lvl2pPr algn="ctr"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2pPr>
            <a:lvl3pPr algn="ctr"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3pPr>
            <a:lvl4pPr algn="ctr"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4pPr>
            <a:lvl5pPr algn="ctr"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5pPr>
            <a:lvl6pPr algn="ctr"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6pPr>
            <a:lvl7pPr algn="ctr"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7pPr>
            <a:lvl8pPr algn="ctr"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8pPr>
            <a:lvl9pPr algn="ctr"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ctr"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rPr>
              <a:t>保留区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A2049B-3180-42F0-9B8D-9B2F15216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228850"/>
            <a:ext cx="1876425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6CFBE"/>
          </a:solidFill>
          <a:ln xmlns:a="http://schemas.openxmlformats.org/drawingml/2006/main" w="9525">
            <a:solidFill>
              <a:srgbClr val="C9D3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DB349F-609F-4C60-AF41-D9BABF1F6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247900"/>
            <a:ext cx="18002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defPPr>
            <a:lvl1pPr algn="ctr"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1pPr>
            <a:lvl2pPr algn="ctr"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2pPr>
            <a:lvl3pPr algn="ctr"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3pPr>
            <a:lvl4pPr algn="ctr"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4pPr>
            <a:lvl5pPr algn="ctr"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5pPr>
            <a:lvl6pPr algn="ctr"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6pPr>
            <a:lvl7pPr algn="ctr"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7pPr>
            <a:lvl8pPr algn="ctr"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8pPr>
            <a:lvl9pPr algn="ctr"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ctr"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rPr>
              <a:t>K · BF16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C7D2E9-D8E9-491E-A09C-10A4CA728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2228850"/>
            <a:ext cx="1876425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6CFBE"/>
          </a:solidFill>
          <a:ln xmlns:a="http://schemas.openxmlformats.org/drawingml/2006/main" w="9525">
            <a:solidFill>
              <a:srgbClr val="C9D3D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F25077-58E0-4168-A542-E625F03C6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475" y="2247900"/>
            <a:ext cx="18002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defPPr>
            <a:lvl1pPr algn="ctr"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1pPr>
            <a:lvl2pPr algn="ctr"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2pPr>
            <a:lvl3pPr algn="ctr"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3pPr>
            <a:lvl4pPr algn="ctr"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4pPr>
            <a:lvl5pPr algn="ctr"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5pPr>
            <a:lvl6pPr algn="ctr"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6pPr>
            <a:lvl7pPr algn="ctr"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7pPr>
            <a:lvl8pPr algn="ctr"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8pPr>
            <a:lvl9pPr algn="ctr"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ctr">
              <a:def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rPr>
              <a:t>V · BF16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480677-4EC1-402F-B611-E30B915C2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33675"/>
            <a:ext cx="11430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B8DB"/>
          </a:solidFill>
          <a:ln xmlns:a="http://schemas.openxmlformats.org/drawingml/2006/main" w="9525">
            <a:solidFill>
              <a:srgbClr val="C9D3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E45731-317E-4A24-89F0-763350D65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52725"/>
            <a:ext cx="1066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defPPr>
            <a:lvl1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1pPr>
            <a:lvl2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2pPr>
            <a:lvl3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3pPr>
            <a:lvl4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4pPr>
            <a:lvl5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5pPr>
            <a:lvl6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6pPr>
            <a:lvl7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7pPr>
            <a:lvl8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8pPr>
            <a:lvl9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rPr>
              <a:t>Conv BF16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ADC490-080D-4443-A0AC-E2B40FC3B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733675"/>
            <a:ext cx="18764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B8DB"/>
          </a:solidFill>
          <a:ln xmlns:a="http://schemas.openxmlformats.org/drawingml/2006/main" w="9525">
            <a:solidFill>
              <a:srgbClr val="C9D3D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B0A9ED-D923-439D-9A60-11B1E27E9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752725"/>
            <a:ext cx="18002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defPPr>
            <a:lvl1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1pPr>
            <a:lvl2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2pPr>
            <a:lvl3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3pPr>
            <a:lvl4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4pPr>
            <a:lvl5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5pPr>
            <a:lvl6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6pPr>
            <a:lvl7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7pPr>
            <a:lvl8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8pPr>
            <a:lvl9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rPr>
              <a:t>SSM FP32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7432D9-22B9-4A3C-81AD-3ED650700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2733675"/>
            <a:ext cx="18764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C9D3D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0A5908-501D-4E8C-8A17-44E64CEB7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475" y="2752725"/>
            <a:ext cx="18002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defPPr>
            <a:lvl1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1pPr>
            <a:lvl2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2pPr>
            <a:lvl3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3pPr>
            <a:lvl4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4pPr>
            <a:lvl5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5pPr>
            <a:lvl6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6pPr>
            <a:lvl7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7pPr>
            <a:lvl8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8pPr>
            <a:lvl9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rPr>
              <a:t>保留区</a:t>
            </a:r>
          </a:p>
        </p:txBody>
      </p:sp>
      <p:cxnSp>
        <p:nvCxn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4C0E8A0-69B1-419D-ACA4-5CE000358CA6}"/>
              </a:ext>
            </a:extLst>
          </p:cNvPr>
          <p:cNvCxnSpPr/>
          <p:nvPr/>
        </p:nvCxnSpPr>
        <p:spPr>
          <a:xfrm xmlns:a="http://schemas.openxmlformats.org/drawingml/2006/main">
            <a:off x="6219825" y="2590800"/>
            <a:ext cx="1695450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586877"/>
            </a:solidFill>
            <a:prstDash val="solid"/>
            <a:tailEnd type="triangle" w="sm" len="sm"/>
          </a:ln>
        </p:spPr>
      </p:cxn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9246D0-29B9-49CA-8587-C5619AD91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28850"/>
            <a:ext cx="17526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defPPr>
            <a:lvl1pPr algn="ctr"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1pPr>
            <a:lvl2pPr algn="ctr"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2pPr>
            <a:lvl3pPr algn="ctr"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3pPr>
            <a:lvl4pPr algn="ctr"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4pPr>
            <a:lvl5pPr algn="ctr"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5pPr>
            <a:lvl6pPr algn="ctr"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6pPr>
            <a:lvl7pPr algn="ctr"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7pPr>
            <a:lvl8pPr algn="ctr"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8pPr>
            <a:lvl9pPr algn="ctr"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ctr"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rPr>
              <a:t>按类型归集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4BDA674-63A9-4F01-BBD6-8C5654CEC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228850"/>
            <a:ext cx="571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C9D3D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33B4DDD-9693-48B1-8252-293A5BEA2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247900"/>
            <a:ext cx="4953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defPPr>
            <a:lvl1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1pPr>
            <a:lvl2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2pPr>
            <a:lvl3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3pPr>
            <a:lvl4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4pPr>
            <a:lvl5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5pPr>
            <a:lvl6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6pPr>
            <a:lvl7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7pPr>
            <a:lvl8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8pPr>
            <a:lvl9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rPr>
              <a:t>FULL</a:t>
            </a:r>
          </a:p>
          <a:p xmlns:a="http://schemas.openxmlformats.org/drawingml/2006/main">
            <a: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rPr>
              <a:t>头部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E970C55-F7AC-4BE8-9B55-A56809C71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228850"/>
            <a:ext cx="14097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6CFBE"/>
          </a:solidFill>
          <a:ln xmlns:a="http://schemas.openxmlformats.org/drawingml/2006/main" w="9525">
            <a:solidFill>
              <a:srgbClr val="C9D3D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20D3518-3909-4310-8A37-27BB996B8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247900"/>
            <a:ext cx="1333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defPPr>
            <a:lvl1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1pPr>
            <a:lvl2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2pPr>
            <a:lvl3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3pPr>
            <a:lvl4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4pPr>
            <a:lvl5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5pPr>
            <a:lvl6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6pPr>
            <a:lvl7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7pPr>
            <a:lvl8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8pPr>
            <a:lvl9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rPr>
              <a:t>BF16 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D384402-336C-4AB8-A1EF-4ACC041CD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2228850"/>
            <a:ext cx="14097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6CFBE"/>
          </a:solidFill>
          <a:ln xmlns:a="http://schemas.openxmlformats.org/drawingml/2006/main" w="9525">
            <a:solidFill>
              <a:srgbClr val="C9D3D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C1825D-74A3-4CCB-AC10-29B664D7E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2247900"/>
            <a:ext cx="1333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defPPr>
            <a:lvl1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1pPr>
            <a:lvl2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2pPr>
            <a:lvl3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3pPr>
            <a:lvl4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4pPr>
            <a:lvl5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5pPr>
            <a:lvl6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6pPr>
            <a:lvl7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7pPr>
            <a:lvl8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8pPr>
            <a:lvl9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rPr>
              <a:t>BF16 V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44A066A-3425-4446-B48E-477C4C382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733675"/>
            <a:ext cx="5715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C9D3D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068B809-6770-4789-A07B-2525A4FCE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752725"/>
            <a:ext cx="495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defPPr>
            <a:lvl1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1pPr>
            <a:lvl2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2pPr>
            <a:lvl3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3pPr>
            <a:lvl4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4pPr>
            <a:lvl5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5pPr>
            <a:lvl6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6pPr>
            <a:lvl7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7pPr>
            <a:lvl8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8pPr>
            <a:lvl9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rPr>
              <a:t>GDN</a:t>
            </a:r>
          </a:p>
          <a:p xmlns:a="http://schemas.openxmlformats.org/drawingml/2006/main">
            <a: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rPr>
              <a:t>头部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ADAEEB5-1091-4F33-9B89-4F1728B3B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733675"/>
            <a:ext cx="14097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B8DB"/>
          </a:solidFill>
          <a:ln xmlns:a="http://schemas.openxmlformats.org/drawingml/2006/main" w="9525">
            <a:solidFill>
              <a:srgbClr val="C9D3D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7D7A88C-BC2D-442A-BF77-BF3DE6F6E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752725"/>
            <a:ext cx="1333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defPPr>
            <a:lvl1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1pPr>
            <a:lvl2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2pPr>
            <a:lvl3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3pPr>
            <a:lvl4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4pPr>
            <a:lvl5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5pPr>
            <a:lvl6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6pPr>
            <a:lvl7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7pPr>
            <a:lvl8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8pPr>
            <a:lvl9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rPr>
              <a:t>Conv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D42D3CB-49C7-4378-8E43-3D2E55CF8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2733675"/>
            <a:ext cx="14097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B8DB"/>
          </a:solidFill>
          <a:ln xmlns:a="http://schemas.openxmlformats.org/drawingml/2006/main" w="9525">
            <a:solidFill>
              <a:srgbClr val="C9D3DB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455B3C8-E853-4939-858A-022B02437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2752725"/>
            <a:ext cx="1333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defPPr>
            <a:lvl1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1pPr>
            <a:lvl2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2pPr>
            <a:lvl3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3pPr>
            <a:lvl4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4pPr>
            <a:lvl5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5pPr>
            <a:lvl6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6pPr>
            <a:lvl7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7pPr>
            <a:lvl8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8pPr>
            <a:lvl9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rPr>
              <a:t>SSM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9CD76E8-77D3-48EF-8B26-DB27A29A0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00400"/>
            <a:ext cx="1116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835C38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575" b="1">
                <a:solidFill>
                  <a:srgbClr val="835C38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575" b="1">
                <a:solidFill>
                  <a:srgbClr val="835C38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575" b="1">
                <a:solidFill>
                  <a:srgbClr val="835C38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575" b="1">
                <a:solidFill>
                  <a:srgbClr val="835C38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575" b="1">
                <a:solidFill>
                  <a:srgbClr val="835C38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575" b="1">
                <a:solidFill>
                  <a:srgbClr val="835C38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575" b="1">
                <a:solidFill>
                  <a:srgbClr val="835C38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575" b="1">
                <a:solidFill>
                  <a:srgbClr val="835C38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575" b="1">
                <a:solidFill>
                  <a:srgbClr val="835C38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835C3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1">
                <a:solidFill>
                  <a:srgbClr val="835C38"/>
                </a:solidFill>
                <a:latin typeface="Hiragino Sans GB"/>
                <a:ea typeface="Hiragino Sans GB"/>
                <a:cs typeface="Hiragino Sans GB"/>
              </a:rPr>
              <a:t>FULL 每 token／头：512B K ＋ 512B V ＝ 1024B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0DEA1F1-1D1C-4E50-B897-8B721BC5F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05200"/>
            <a:ext cx="111633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835C38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575" b="0">
                <a:solidFill>
                  <a:srgbClr val="835C38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575" b="0">
                <a:solidFill>
                  <a:srgbClr val="835C38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575" b="0">
                <a:solidFill>
                  <a:srgbClr val="835C38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575" b="0">
                <a:solidFill>
                  <a:srgbClr val="835C38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575" b="0">
                <a:solidFill>
                  <a:srgbClr val="835C38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575" b="0">
                <a:solidFill>
                  <a:srgbClr val="835C38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575" b="0">
                <a:solidFill>
                  <a:srgbClr val="835C38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575" b="0">
                <a:solidFill>
                  <a:srgbClr val="835C38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575" b="0">
                <a:solidFill>
                  <a:srgbClr val="835C38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835C3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835C38"/>
                </a:solidFill>
                <a:latin typeface="Hiragino Sans GB"/>
                <a:ea typeface="Hiragino Sans GB"/>
                <a:cs typeface="Hiragino Sans GB"/>
              </a:rPr>
              <a:t>问题：全历史 BF16 载荷大，混合层数据还需按不同区段寻址。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1203DE8-E0DD-41D1-9790-073B6C05B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3DB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6CFDA5B-8655-4F31-8C49-0E7DA2FE4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67175"/>
            <a:ext cx="11163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34765F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2025" b="1">
                <a:solidFill>
                  <a:srgbClr val="34765F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2025" b="1">
                <a:solidFill>
                  <a:srgbClr val="34765F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2025" b="1">
                <a:solidFill>
                  <a:srgbClr val="34765F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2025" b="1">
                <a:solidFill>
                  <a:srgbClr val="34765F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2025" b="1">
                <a:solidFill>
                  <a:srgbClr val="34765F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2025" b="1">
                <a:solidFill>
                  <a:srgbClr val="34765F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2025" b="1">
                <a:solidFill>
                  <a:srgbClr val="34765F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2025" b="1">
                <a:solidFill>
                  <a:srgbClr val="34765F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2025" b="1">
                <a:solidFill>
                  <a:srgbClr val="34765F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34765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34765F"/>
                </a:solidFill>
                <a:latin typeface="Hiragino Sans GB"/>
                <a:ea typeface="Hiragino Sans GB"/>
                <a:cs typeface="Hiragino Sans GB"/>
              </a:rPr>
              <a:t>本发明：混合精度布局 ＋ 槽位映射控制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52D6453-E845-4A8F-9602-7F877C725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67225"/>
            <a:ext cx="5505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rPr>
              <a:t>HBM：当前 OSCAR 真实布局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B2CCFD7-2D17-4FBF-9E45-B7AC8344F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467225"/>
            <a:ext cx="3390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425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rPr>
              <a:t>二级缓存：拟议数据槽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C8AE314-6885-4661-93B3-996CC9DF3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29175"/>
            <a:ext cx="571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rPr>
              <a:t>FULL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05E5B15-09C2-4AA1-B98F-D2F721DA3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343525"/>
            <a:ext cx="571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rPr>
              <a:t>GDN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B88AE4F-DA2F-4A6D-A98D-CAA9CC614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829175"/>
            <a:ext cx="11430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C9D3DB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07637ED-6401-4355-85B6-7A23C5C1D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48225"/>
            <a:ext cx="1066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defPPr>
            <a:lvl1pPr algn="ctr">
              <a:defRPr sz="15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1pPr>
            <a:lvl2pPr algn="ctr">
              <a:defRPr sz="15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2pPr>
            <a:lvl3pPr algn="ctr">
              <a:defRPr sz="15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3pPr>
            <a:lvl4pPr algn="ctr">
              <a:defRPr sz="15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4pPr>
            <a:lvl5pPr algn="ctr">
              <a:defRPr sz="15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5pPr>
            <a:lvl6pPr algn="ctr">
              <a:defRPr sz="15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6pPr>
            <a:lvl7pPr algn="ctr">
              <a:defRPr sz="15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7pPr>
            <a:lvl8pPr algn="ctr">
              <a:defRPr sz="15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8pPr>
            <a:lvl9pPr algn="ctr">
              <a:defRPr sz="15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rPr>
              <a:t>保留区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7BF8441-2A53-474A-A76C-A0EF44DED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29175"/>
            <a:ext cx="1876425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C9D3DB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D491761-8925-45CD-B981-CA9B110B2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848225"/>
            <a:ext cx="18002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defPPr>
            <a:lvl1pPr algn="ctr">
              <a:defRPr sz="15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1pPr>
            <a:lvl2pPr algn="ctr">
              <a:defRPr sz="15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2pPr>
            <a:lvl3pPr algn="ctr">
              <a:defRPr sz="15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3pPr>
            <a:lvl4pPr algn="ctr">
              <a:defRPr sz="15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4pPr>
            <a:lvl5pPr algn="ctr">
              <a:defRPr sz="15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5pPr>
            <a:lvl6pPr algn="ctr">
              <a:defRPr sz="15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6pPr>
            <a:lvl7pPr algn="ctr">
              <a:defRPr sz="15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7pPr>
            <a:lvl8pPr algn="ctr">
              <a:defRPr sz="15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8pPr>
            <a:lvl9pPr algn="ctr">
              <a:defRPr sz="15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rPr>
              <a:t>K＋V · INT2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48539A6-D858-4E21-B628-89602C9F7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4829175"/>
            <a:ext cx="1876425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6CFBE"/>
          </a:solidFill>
          <a:ln xmlns:a="http://schemas.openxmlformats.org/drawingml/2006/main" w="9525">
            <a:solidFill>
              <a:srgbClr val="C9D3DB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D44D71E-6637-4271-A0D9-F3A54FE2F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475" y="4848225"/>
            <a:ext cx="18002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defPPr>
            <a:lvl1pPr algn="ctr">
              <a:defRPr sz="15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1pPr>
            <a:lvl2pPr algn="ctr">
              <a:defRPr sz="15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2pPr>
            <a:lvl3pPr algn="ctr">
              <a:defRPr sz="15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3pPr>
            <a:lvl4pPr algn="ctr">
              <a:defRPr sz="15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4pPr>
            <a:lvl5pPr algn="ctr">
              <a:defRPr sz="15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5pPr>
            <a:lvl6pPr algn="ctr">
              <a:defRPr sz="15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6pPr>
            <a:lvl7pPr algn="ctr">
              <a:defRPr sz="15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7pPr>
            <a:lvl8pPr algn="ctr">
              <a:defRPr sz="15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8pPr>
            <a:lvl9pPr algn="ctr">
              <a:defRPr sz="15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rPr>
              <a:t>BF16 窗口＋tag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FEBC9E2-8447-4D23-BD08-681936338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343525"/>
            <a:ext cx="11430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B8DB"/>
          </a:solidFill>
          <a:ln xmlns:a="http://schemas.openxmlformats.org/drawingml/2006/main" w="9525">
            <a:solidFill>
              <a:srgbClr val="C9D3DB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ED9BEE6-5D9C-4F04-B7D8-8C7F79A5D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362575"/>
            <a:ext cx="1066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defPPr>
            <a:lvl1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1pPr>
            <a:lvl2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2pPr>
            <a:lvl3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3pPr>
            <a:lvl4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4pPr>
            <a:lvl5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5pPr>
            <a:lvl6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6pPr>
            <a:lvl7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7pPr>
            <a:lvl8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8pPr>
            <a:lvl9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rPr>
              <a:t>Conv BF16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AF57AA7-30F2-4240-800C-504905425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343525"/>
            <a:ext cx="18764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B8DB"/>
          </a:solidFill>
          <a:ln xmlns:a="http://schemas.openxmlformats.org/drawingml/2006/main" w="9525">
            <a:solidFill>
              <a:srgbClr val="C9D3DB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4DD1855-8657-4F50-A291-C4D79505D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5362575"/>
            <a:ext cx="18002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defPPr>
            <a:lvl1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1pPr>
            <a:lvl2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2pPr>
            <a:lvl3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3pPr>
            <a:lvl4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4pPr>
            <a:lvl5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5pPr>
            <a:lvl6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6pPr>
            <a:lvl7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7pPr>
            <a:lvl8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8pPr>
            <a:lvl9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rPr>
              <a:t>SSM FP32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507566F-5E6E-4833-B528-6C7E7877A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5343525"/>
            <a:ext cx="18764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C9D3DB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6521E40-6777-4773-A9A8-789E3953A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475" y="5362575"/>
            <a:ext cx="18002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defPPr>
            <a:lvl1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1pPr>
            <a:lvl2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2pPr>
            <a:lvl3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3pPr>
            <a:lvl4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4pPr>
            <a:lvl5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5pPr>
            <a:lvl6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6pPr>
            <a:lvl7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7pPr>
            <a:lvl8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8pPr>
            <a:lvl9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rPr>
              <a:t>保留区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1A2B6E4-AD66-4846-927D-B24238330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772025"/>
            <a:ext cx="1590675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15240">
            <a:solidFill>
              <a:srgbClr val="34765F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8CF15CD-979C-42B2-BD39-40C901C8D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838700"/>
            <a:ext cx="14382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75" b="1">
                <a:solidFill>
                  <a:srgbClr val="34765F"/>
                </a:solidFill>
                <a:latin typeface="Hiragino Sans GB"/>
                <a:ea typeface="Hiragino Sans GB"/>
                <a:cs typeface="Hiragino Sans GB"/>
              </a:defRPr>
            </a:defPPr>
            <a:lvl1pPr algn="ctr">
              <a:defRPr sz="1575" b="1">
                <a:solidFill>
                  <a:srgbClr val="34765F"/>
                </a:solidFill>
                <a:latin typeface="Hiragino Sans GB"/>
                <a:ea typeface="Hiragino Sans GB"/>
                <a:cs typeface="Hiragino Sans GB"/>
              </a:defRPr>
            </a:lvl1pPr>
            <a:lvl2pPr algn="ctr">
              <a:defRPr sz="1575" b="1">
                <a:solidFill>
                  <a:srgbClr val="34765F"/>
                </a:solidFill>
                <a:latin typeface="Hiragino Sans GB"/>
                <a:ea typeface="Hiragino Sans GB"/>
                <a:cs typeface="Hiragino Sans GB"/>
              </a:defRPr>
            </a:lvl2pPr>
            <a:lvl3pPr algn="ctr">
              <a:defRPr sz="1575" b="1">
                <a:solidFill>
                  <a:srgbClr val="34765F"/>
                </a:solidFill>
                <a:latin typeface="Hiragino Sans GB"/>
                <a:ea typeface="Hiragino Sans GB"/>
                <a:cs typeface="Hiragino Sans GB"/>
              </a:defRPr>
            </a:lvl3pPr>
            <a:lvl4pPr algn="ctr">
              <a:defRPr sz="1575" b="1">
                <a:solidFill>
                  <a:srgbClr val="34765F"/>
                </a:solidFill>
                <a:latin typeface="Hiragino Sans GB"/>
                <a:ea typeface="Hiragino Sans GB"/>
                <a:cs typeface="Hiragino Sans GB"/>
              </a:defRPr>
            </a:lvl4pPr>
            <a:lvl5pPr algn="ctr">
              <a:defRPr sz="1575" b="1">
                <a:solidFill>
                  <a:srgbClr val="34765F"/>
                </a:solidFill>
                <a:latin typeface="Hiragino Sans GB"/>
                <a:ea typeface="Hiragino Sans GB"/>
                <a:cs typeface="Hiragino Sans GB"/>
              </a:defRPr>
            </a:lvl5pPr>
            <a:lvl6pPr algn="ctr">
              <a:defRPr sz="1575" b="1">
                <a:solidFill>
                  <a:srgbClr val="34765F"/>
                </a:solidFill>
                <a:latin typeface="Hiragino Sans GB"/>
                <a:ea typeface="Hiragino Sans GB"/>
                <a:cs typeface="Hiragino Sans GB"/>
              </a:defRPr>
            </a:lvl6pPr>
            <a:lvl7pPr algn="ctr">
              <a:defRPr sz="1575" b="1">
                <a:solidFill>
                  <a:srgbClr val="34765F"/>
                </a:solidFill>
                <a:latin typeface="Hiragino Sans GB"/>
                <a:ea typeface="Hiragino Sans GB"/>
                <a:cs typeface="Hiragino Sans GB"/>
              </a:defRPr>
            </a:lvl7pPr>
            <a:lvl8pPr algn="ctr">
              <a:defRPr sz="1575" b="1">
                <a:solidFill>
                  <a:srgbClr val="34765F"/>
                </a:solidFill>
                <a:latin typeface="Hiragino Sans GB"/>
                <a:ea typeface="Hiragino Sans GB"/>
                <a:cs typeface="Hiragino Sans GB"/>
              </a:defRPr>
            </a:lvl8pPr>
            <a:lvl9pPr algn="ctr">
              <a:defRPr sz="1575" b="1">
                <a:solidFill>
                  <a:srgbClr val="34765F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ctr">
              <a:defRPr sz="1575" b="1">
                <a:solidFill>
                  <a:srgbClr val="34765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1">
                <a:solidFill>
                  <a:srgbClr val="34765F"/>
                </a:solidFill>
                <a:latin typeface="Hiragino Sans GB"/>
                <a:ea typeface="Hiragino Sans GB"/>
                <a:cs typeface="Hiragino Sans GB"/>
              </a:rPr>
              <a:t>布局控制装置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F1DB6A2-041C-4BA5-93E2-035A5EC08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143827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defPPr>
            <a:lvl1pPr algn="ctr">
              <a:defRPr sz="1500" b="0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1pPr>
            <a:lvl2pPr algn="ctr">
              <a:defRPr sz="1500" b="0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2pPr>
            <a:lvl3pPr algn="ctr">
              <a:defRPr sz="1500" b="0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3pPr>
            <a:lvl4pPr algn="ctr">
              <a:defRPr sz="1500" b="0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4pPr>
            <a:lvl5pPr algn="ctr">
              <a:defRPr sz="1500" b="0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5pPr>
            <a:lvl6pPr algn="ctr">
              <a:defRPr sz="1500" b="0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6pPr>
            <a:lvl7pPr algn="ctr">
              <a:defRPr sz="1500" b="0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7pPr>
            <a:lvl8pPr algn="ctr">
              <a:defRPr sz="1500" b="0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8pPr>
            <a:lvl9pPr algn="ctr">
              <a:defRPr sz="1500" b="0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rPr>
              <a:t>槽位转换</a:t>
            </a:r>
          </a:p>
          <a:p xmlns:a="http://schemas.openxmlformats.org/drawingml/2006/main">
            <a:pPr algn="ctr">
              <a:defRPr sz="1500" b="0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rPr>
              <a:t>地址映射</a:t>
            </a:r>
          </a:p>
        </p:txBody>
      </p:sp>
      <p:cxnSp>
        <p:nvCxn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AA8EB98-6D16-484F-938C-352CCF9520E0}"/>
              </a:ext>
            </a:extLst>
          </p:cNvPr>
          <p:cNvCxnSpPr/>
          <p:nvPr/>
        </p:nvCxnSpPr>
        <p:spPr>
          <a:xfrm xmlns:a="http://schemas.openxmlformats.org/drawingml/2006/main">
            <a:off x="6048375" y="5191125"/>
            <a:ext cx="161925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34765F"/>
            </a:solidFill>
            <a:prstDash val="solid"/>
            <a:headEnd type="triangle" w="sm" len="sm"/>
            <a:tailEnd type="triangle" w="sm" len="sm"/>
          </a:ln>
        </p:spPr>
      </p:cxnSp>
      <p:cxnSp>
        <p:nvCxn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392C976-C2F5-4798-939E-3B2B31814352}"/>
              </a:ext>
            </a:extLst>
          </p:cNvPr>
          <p:cNvCxnSpPr/>
          <p:nvPr/>
        </p:nvCxnSpPr>
        <p:spPr>
          <a:xfrm xmlns:a="http://schemas.openxmlformats.org/drawingml/2006/main">
            <a:off x="7896225" y="5191125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34765F"/>
            </a:solidFill>
            <a:prstDash val="solid"/>
            <a:headEnd type="triangle" w="sm" len="sm"/>
            <a:tailEnd type="triangle" w="sm" len="sm"/>
          </a:ln>
        </p:spPr>
      </p:cxn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94D2923-5AF1-49B8-B575-0324E6A68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829175"/>
            <a:ext cx="571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C9D3DB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A410658-913D-4BDD-8628-660CBBC58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848225"/>
            <a:ext cx="4953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defPPr>
            <a:lvl1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1pPr>
            <a:lvl2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2pPr>
            <a:lvl3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3pPr>
            <a:lvl4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4pPr>
            <a:lvl5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5pPr>
            <a:lvl6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6pPr>
            <a:lvl7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7pPr>
            <a:lvl8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8pPr>
            <a:lvl9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rPr>
              <a:t>FULL</a:t>
            </a:r>
          </a:p>
          <a:p xmlns:a="http://schemas.openxmlformats.org/drawingml/2006/main">
            <a: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rPr>
              <a:t>头部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17EDE13-9A2D-4907-9704-0214FAC96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829175"/>
            <a:ext cx="10287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C7E2"/>
          </a:solidFill>
          <a:ln xmlns:a="http://schemas.openxmlformats.org/drawingml/2006/main" w="9525">
            <a:solidFill>
              <a:srgbClr val="C9D3DB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81AAA00-38B0-429C-A4FA-F303377E2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848225"/>
            <a:ext cx="952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defPPr>
            <a:lvl1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1pPr>
            <a:lvl2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2pPr>
            <a:lvl3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3pPr>
            <a:lvl4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4pPr>
            <a:lvl5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5pPr>
            <a:lvl6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6pPr>
            <a:lvl7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7pPr>
            <a:lvl8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8pPr>
            <a:lvl9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rPr>
              <a:t>INT2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554200A-3089-443F-B2B9-B557D7E58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829175"/>
            <a:ext cx="12192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6CFBE"/>
          </a:solidFill>
          <a:ln xmlns:a="http://schemas.openxmlformats.org/drawingml/2006/main" w="9525">
            <a:solidFill>
              <a:srgbClr val="C9D3DB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7B35D87E-88ED-402C-9543-11C763055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848225"/>
            <a:ext cx="1143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defPPr>
            <a:lvl1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1pPr>
            <a:lvl2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2pPr>
            <a:lvl3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3pPr>
            <a:lvl4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4pPr>
            <a:lvl5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5pPr>
            <a:lvl6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6pPr>
            <a:lvl7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7pPr>
            <a:lvl8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8pPr>
            <a:lvl9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rPr>
              <a:t>BF16窗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685CB48-A0EA-4B0B-8FBF-E1AE1F8CA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4829175"/>
            <a:ext cx="571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C9D3DB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E44C1560-B141-4365-9500-C9D48EF7A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848225"/>
            <a:ext cx="4953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defPPr>
            <a:lvl1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1pPr>
            <a:lvl2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2pPr>
            <a:lvl3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3pPr>
            <a:lvl4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4pPr>
            <a:lvl5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5pPr>
            <a:lvl6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6pPr>
            <a:lvl7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7pPr>
            <a:lvl8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8pPr>
            <a:lvl9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rPr>
              <a:t>位置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F077DC48-35AC-4A4A-AA72-2BE3C7FB0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343525"/>
            <a:ext cx="5715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C9D3DB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1CDDA95-8C7F-4C7F-B31C-63E405AA2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362575"/>
            <a:ext cx="495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defPPr>
            <a:lvl1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1pPr>
            <a:lvl2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2pPr>
            <a:lvl3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3pPr>
            <a:lvl4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4pPr>
            <a:lvl5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5pPr>
            <a:lvl6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6pPr>
            <a:lvl7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7pPr>
            <a:lvl8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8pPr>
            <a:lvl9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rPr>
              <a:t>GDN</a:t>
            </a:r>
          </a:p>
          <a:p xmlns:a="http://schemas.openxmlformats.org/drawingml/2006/main">
            <a: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rPr>
              <a:t>头部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6DD4199E-E50F-40EC-B0B9-A88DA5CD9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343525"/>
            <a:ext cx="14097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B8DB"/>
          </a:solidFill>
          <a:ln xmlns:a="http://schemas.openxmlformats.org/drawingml/2006/main" w="9525">
            <a:solidFill>
              <a:srgbClr val="C9D3DB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D1BD934C-36C2-4771-9298-F4D2274EC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5362575"/>
            <a:ext cx="1333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defPPr>
            <a:lvl1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1pPr>
            <a:lvl2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2pPr>
            <a:lvl3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3pPr>
            <a:lvl4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4pPr>
            <a:lvl5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5pPr>
            <a:lvl6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6pPr>
            <a:lvl7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7pPr>
            <a:lvl8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8pPr>
            <a:lvl9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rPr>
              <a:t>Conv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490C17A-E52F-4229-8D08-BD55BDC37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5343525"/>
            <a:ext cx="14097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B8DB"/>
          </a:solidFill>
          <a:ln xmlns:a="http://schemas.openxmlformats.org/drawingml/2006/main" w="9525">
            <a:solidFill>
              <a:srgbClr val="C9D3DB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CD3E7167-A56C-4FA2-8165-AC3923631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5362575"/>
            <a:ext cx="1333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defPPr>
            <a:lvl1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1pPr>
            <a:lvl2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2pPr>
            <a:lvl3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3pPr>
            <a:lvl4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4pPr>
            <a:lvl5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5pPr>
            <a:lvl6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6pPr>
            <a:lvl7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7pPr>
            <a:lvl8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8pPr>
            <a:lvl9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rPr>
              <a:t>SSM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49E7F40-ECF0-4B45-AC2C-D1B6BB8FD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857875"/>
            <a:ext cx="111633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34765F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575" b="1">
                <a:solidFill>
                  <a:srgbClr val="34765F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575" b="1">
                <a:solidFill>
                  <a:srgbClr val="34765F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575" b="1">
                <a:solidFill>
                  <a:srgbClr val="34765F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575" b="1">
                <a:solidFill>
                  <a:srgbClr val="34765F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575" b="1">
                <a:solidFill>
                  <a:srgbClr val="34765F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575" b="1">
                <a:solidFill>
                  <a:srgbClr val="34765F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575" b="1">
                <a:solidFill>
                  <a:srgbClr val="34765F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575" b="1">
                <a:solidFill>
                  <a:srgbClr val="34765F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575" b="1">
                <a:solidFill>
                  <a:srgbClr val="34765F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34765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1">
                <a:solidFill>
                  <a:srgbClr val="34765F"/>
                </a:solidFill>
                <a:latin typeface="Hiragino Sans GB"/>
                <a:ea typeface="Hiragino Sans GB"/>
                <a:cs typeface="Hiragino Sans GB"/>
              </a:rPr>
              <a:t>INT2 历史槽：64B K码 ＋ 64B V码 ＋ 16B参数 ＝ 144B（原精度窗口另计）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D1D9E780-44EF-49AD-A270-1CBC930E4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6745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3DB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EBA425B8-4F2B-4C89-8F96-860E760CB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11163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6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6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6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6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6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6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6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6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6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1">
                <a:solidFill>
                  <a:srgbClr val="1C2C39"/>
                </a:solidFill>
                <a:latin typeface="Hiragino Sans GB"/>
                <a:ea typeface="Hiragino Sans GB"/>
                <a:cs typeface="Hiragino Sans GB"/>
              </a:rPr>
              <a:t>保护重点：混合精度 KV 分层布局及其槽位映射控制。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3CA55187-E467-4C0B-B8AB-27C58100E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48450"/>
            <a:ext cx="11163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63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163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163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163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163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163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163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163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163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163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l">
              <a:defRPr sz="1163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63" b="0">
                <a:solidFill>
                  <a:srgbClr val="586877"/>
                </a:solidFill>
                <a:latin typeface="Hiragino Sans GB"/>
                <a:ea typeface="Hiragino Sans GB"/>
                <a:cs typeface="Hiragino Sans GB"/>
              </a:rPr>
              <a:t>区段示意非比例；FULL/GDN 使用不同物理块。D=256，每 token／KV head，窗口另计。二级布局为拟议扩展。</a:t>
            </a:r>
          </a:p>
        </p:txBody>
      </p:sp>
    </p:spTree>
    <p:extLst>
      <p:ext uri="{BB962C8B-B14F-4D97-AF65-F5344CB8AC3E}">
        <p14:creationId xmlns:p14="http://schemas.microsoft.com/office/powerpoint/2010/main" val="109438339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2026-10-19T07:46:51.2560000Z</dcterms:created>
  <dcterms:modified xsi:type="dcterms:W3CDTF">2026-10-19T07:46:51.2560000Z</dcterms:modified>
</coreProperties>
</file>